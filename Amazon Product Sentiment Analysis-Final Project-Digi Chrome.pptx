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6" r:id="rId8"/>
    <p:sldId id="262" r:id="rId9"/>
    <p:sldId id="263" r:id="rId10"/>
    <p:sldId id="265"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3" autoAdjust="0"/>
    <p:restoredTop sz="94660"/>
  </p:normalViewPr>
  <p:slideViewPr>
    <p:cSldViewPr snapToGrid="0">
      <p:cViewPr varScale="1">
        <p:scale>
          <a:sx n="88" d="100"/>
          <a:sy n="88" d="100"/>
        </p:scale>
        <p:origin x="3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8A29A55-CC42-46FE-9A42-9E8D9D766F0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2C3D61-4543-4EF4-B8D0-C6AFC3667845}" type="slidenum">
              <a:rPr lang="en-IN" smtClean="0"/>
              <a:t>‹#›</a:t>
            </a:fld>
            <a:endParaRPr lang="en-IN"/>
          </a:p>
        </p:txBody>
      </p:sp>
    </p:spTree>
    <p:extLst>
      <p:ext uri="{BB962C8B-B14F-4D97-AF65-F5344CB8AC3E}">
        <p14:creationId xmlns:p14="http://schemas.microsoft.com/office/powerpoint/2010/main" val="3604191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8A29A55-CC42-46FE-9A42-9E8D9D766F0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2C3D61-4543-4EF4-B8D0-C6AFC3667845}" type="slidenum">
              <a:rPr lang="en-IN" smtClean="0"/>
              <a:t>‹#›</a:t>
            </a:fld>
            <a:endParaRPr lang="en-IN"/>
          </a:p>
        </p:txBody>
      </p:sp>
    </p:spTree>
    <p:extLst>
      <p:ext uri="{BB962C8B-B14F-4D97-AF65-F5344CB8AC3E}">
        <p14:creationId xmlns:p14="http://schemas.microsoft.com/office/powerpoint/2010/main" val="1532650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8A29A55-CC42-46FE-9A42-9E8D9D766F0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2C3D61-4543-4EF4-B8D0-C6AFC3667845}" type="slidenum">
              <a:rPr lang="en-IN" smtClean="0"/>
              <a:t>‹#›</a:t>
            </a:fld>
            <a:endParaRPr lang="en-IN"/>
          </a:p>
        </p:txBody>
      </p:sp>
    </p:spTree>
    <p:extLst>
      <p:ext uri="{BB962C8B-B14F-4D97-AF65-F5344CB8AC3E}">
        <p14:creationId xmlns:p14="http://schemas.microsoft.com/office/powerpoint/2010/main" val="242139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8A29A55-CC42-46FE-9A42-9E8D9D766F0C}" type="datetimeFigureOut">
              <a:rPr lang="en-IN" smtClean="0"/>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2C3D61-4543-4EF4-B8D0-C6AFC3667845}" type="slidenum">
              <a:rPr lang="en-IN" smtClean="0"/>
              <a:t>‹#›</a:t>
            </a:fld>
            <a:endParaRPr lang="en-IN"/>
          </a:p>
        </p:txBody>
      </p:sp>
    </p:spTree>
    <p:extLst>
      <p:ext uri="{BB962C8B-B14F-4D97-AF65-F5344CB8AC3E}">
        <p14:creationId xmlns:p14="http://schemas.microsoft.com/office/powerpoint/2010/main" val="2548772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8A29A55-CC42-46FE-9A42-9E8D9D766F0C}" type="datetimeFigureOut">
              <a:rPr lang="en-IN" smtClean="0"/>
              <a:t>14-04-2025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E2C3D61-4543-4EF4-B8D0-C6AFC3667845}" type="slidenum">
              <a:rPr lang="en-IN" smtClean="0"/>
              <a:t>‹#›</a:t>
            </a:fld>
            <a:endParaRPr lang="en-IN"/>
          </a:p>
        </p:txBody>
      </p:sp>
    </p:spTree>
    <p:extLst>
      <p:ext uri="{BB962C8B-B14F-4D97-AF65-F5344CB8AC3E}">
        <p14:creationId xmlns:p14="http://schemas.microsoft.com/office/powerpoint/2010/main" val="597027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8A29A55-CC42-46FE-9A42-9E8D9D766F0C}" type="datetimeFigureOut">
              <a:rPr lang="en-IN" smtClean="0"/>
              <a:t>14-04-2025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E2C3D61-4543-4EF4-B8D0-C6AFC3667845}" type="slidenum">
              <a:rPr lang="en-IN" smtClean="0"/>
              <a:t>‹#›</a:t>
            </a:fld>
            <a:endParaRPr lang="en-IN"/>
          </a:p>
        </p:txBody>
      </p:sp>
    </p:spTree>
    <p:extLst>
      <p:ext uri="{BB962C8B-B14F-4D97-AF65-F5344CB8AC3E}">
        <p14:creationId xmlns:p14="http://schemas.microsoft.com/office/powerpoint/2010/main" val="2042673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A29A55-CC42-46FE-9A42-9E8D9D766F0C}" type="datetimeFigureOut">
              <a:rPr lang="en-IN" smtClean="0"/>
              <a:t>14-04-2025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E2C3D61-4543-4EF4-B8D0-C6AFC3667845}" type="slidenum">
              <a:rPr lang="en-IN" smtClean="0"/>
              <a:t>‹#›</a:t>
            </a:fld>
            <a:endParaRPr lang="en-IN"/>
          </a:p>
        </p:txBody>
      </p:sp>
    </p:spTree>
    <p:extLst>
      <p:ext uri="{BB962C8B-B14F-4D97-AF65-F5344CB8AC3E}">
        <p14:creationId xmlns:p14="http://schemas.microsoft.com/office/powerpoint/2010/main" val="2181269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8A29A55-CC42-46FE-9A42-9E8D9D766F0C}" type="datetimeFigureOut">
              <a:rPr lang="en-IN" smtClean="0"/>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2C3D61-4543-4EF4-B8D0-C6AFC3667845}" type="slidenum">
              <a:rPr lang="en-IN" smtClean="0"/>
              <a:t>‹#›</a:t>
            </a:fld>
            <a:endParaRPr lang="en-IN"/>
          </a:p>
        </p:txBody>
      </p:sp>
    </p:spTree>
    <p:extLst>
      <p:ext uri="{BB962C8B-B14F-4D97-AF65-F5344CB8AC3E}">
        <p14:creationId xmlns:p14="http://schemas.microsoft.com/office/powerpoint/2010/main" val="1133351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8A29A55-CC42-46FE-9A42-9E8D9D766F0C}" type="datetimeFigureOut">
              <a:rPr lang="en-IN" smtClean="0"/>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2C3D61-4543-4EF4-B8D0-C6AFC3667845}" type="slidenum">
              <a:rPr lang="en-IN" smtClean="0"/>
              <a:t>‹#›</a:t>
            </a:fld>
            <a:endParaRPr lang="en-IN"/>
          </a:p>
        </p:txBody>
      </p:sp>
    </p:spTree>
    <p:extLst>
      <p:ext uri="{BB962C8B-B14F-4D97-AF65-F5344CB8AC3E}">
        <p14:creationId xmlns:p14="http://schemas.microsoft.com/office/powerpoint/2010/main" val="2176548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8A29A55-CC42-46FE-9A42-9E8D9D766F0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2C3D61-4543-4EF4-B8D0-C6AFC3667845}" type="slidenum">
              <a:rPr lang="en-IN" smtClean="0"/>
              <a:t>‹#›</a:t>
            </a:fld>
            <a:endParaRPr lang="en-IN"/>
          </a:p>
        </p:txBody>
      </p:sp>
    </p:spTree>
    <p:extLst>
      <p:ext uri="{BB962C8B-B14F-4D97-AF65-F5344CB8AC3E}">
        <p14:creationId xmlns:p14="http://schemas.microsoft.com/office/powerpoint/2010/main" val="138223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8A29A55-CC42-46FE-9A42-9E8D9D766F0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2C3D61-4543-4EF4-B8D0-C6AFC3667845}" type="slidenum">
              <a:rPr lang="en-IN" smtClean="0"/>
              <a:t>‹#›</a:t>
            </a:fld>
            <a:endParaRPr lang="en-IN"/>
          </a:p>
        </p:txBody>
      </p:sp>
    </p:spTree>
    <p:extLst>
      <p:ext uri="{BB962C8B-B14F-4D97-AF65-F5344CB8AC3E}">
        <p14:creationId xmlns:p14="http://schemas.microsoft.com/office/powerpoint/2010/main" val="831584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A29A55-CC42-46FE-9A42-9E8D9D766F0C}" type="datetimeFigureOut">
              <a:rPr lang="en-IN" smtClean="0"/>
              <a:t>14-04-2025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2C3D61-4543-4EF4-B8D0-C6AFC3667845}" type="slidenum">
              <a:rPr lang="en-IN" smtClean="0"/>
              <a:t>‹#›</a:t>
            </a:fld>
            <a:endParaRPr lang="en-IN"/>
          </a:p>
        </p:txBody>
      </p:sp>
    </p:spTree>
    <p:extLst>
      <p:ext uri="{BB962C8B-B14F-4D97-AF65-F5344CB8AC3E}">
        <p14:creationId xmlns:p14="http://schemas.microsoft.com/office/powerpoint/2010/main" val="24292606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4.xml"/><Relationship Id="rId7"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slide" Target="slide9.xml"/><Relationship Id="rId4" Type="http://schemas.openxmlformats.org/officeDocument/2006/relationships/slide" Target="slide6.xml"/><Relationship Id="rId9" Type="http://schemas.openxmlformats.org/officeDocument/2006/relationships/slide" Target="slide14.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slide" Target="slide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slide" Target="slide2.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4369" y="96547"/>
            <a:ext cx="7238999" cy="601300"/>
          </a:xfrm>
        </p:spPr>
        <p:style>
          <a:lnRef idx="2">
            <a:schemeClr val="accent1"/>
          </a:lnRef>
          <a:fillRef idx="1">
            <a:schemeClr val="lt1"/>
          </a:fillRef>
          <a:effectRef idx="0">
            <a:schemeClr val="accent1"/>
          </a:effectRef>
          <a:fontRef idx="minor">
            <a:schemeClr val="dk1"/>
          </a:fontRef>
        </p:style>
        <p:txBody>
          <a:bodyPr>
            <a:normAutofit/>
          </a:bodyPr>
          <a:lstStyle/>
          <a:p>
            <a:r>
              <a:rPr lang="en-US" sz="2800" b="1" dirty="0" smtClean="0">
                <a:latin typeface="Times New Roman" panose="02020603050405020304" pitchFamily="18" charset="0"/>
                <a:cs typeface="Times New Roman" panose="02020603050405020304" pitchFamily="18" charset="0"/>
              </a:rPr>
              <a:t>Sentiment Analysis-Amazon Product</a:t>
            </a:r>
            <a:endParaRPr lang="en-IN" sz="28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08088" y="3474626"/>
            <a:ext cx="9144000" cy="2412367"/>
          </a:xfrm>
        </p:spPr>
        <p:style>
          <a:lnRef idx="2">
            <a:schemeClr val="dk1"/>
          </a:lnRef>
          <a:fillRef idx="1">
            <a:schemeClr val="lt1"/>
          </a:fillRef>
          <a:effectRef idx="0">
            <a:schemeClr val="dk1"/>
          </a:effectRef>
          <a:fontRef idx="minor">
            <a:schemeClr val="dk1"/>
          </a:fontRef>
        </p:style>
        <p:txBody>
          <a:bodyPr>
            <a:noAutofit/>
          </a:bodyPr>
          <a:lstStyle/>
          <a:p>
            <a:pPr algn="l"/>
            <a:r>
              <a:rPr lang="en-US" sz="2000" b="1" dirty="0" smtClean="0">
                <a:latin typeface="Times New Roman" panose="02020603050405020304" pitchFamily="18" charset="0"/>
                <a:cs typeface="Times New Roman" panose="02020603050405020304" pitchFamily="18" charset="0"/>
              </a:rPr>
              <a:t>Capstone Project-2</a:t>
            </a:r>
          </a:p>
          <a:p>
            <a:pPr algn="l"/>
            <a:r>
              <a:rPr lang="en-US" sz="2000" dirty="0" smtClean="0">
                <a:latin typeface="Times New Roman" panose="02020603050405020304" pitchFamily="18" charset="0"/>
                <a:cs typeface="Times New Roman" panose="02020603050405020304" pitchFamily="18" charset="0"/>
              </a:rPr>
              <a:t>Name- </a:t>
            </a:r>
            <a:r>
              <a:rPr lang="en-US" sz="2000" dirty="0" err="1" smtClean="0">
                <a:latin typeface="Times New Roman" panose="02020603050405020304" pitchFamily="18" charset="0"/>
                <a:cs typeface="Times New Roman" panose="02020603050405020304" pitchFamily="18" charset="0"/>
              </a:rPr>
              <a:t>Debasis</a:t>
            </a:r>
            <a:r>
              <a:rPr lang="en-US" sz="2000" dirty="0" smtClean="0">
                <a:latin typeface="Times New Roman" panose="02020603050405020304" pitchFamily="18" charset="0"/>
                <a:cs typeface="Times New Roman" panose="02020603050405020304" pitchFamily="18" charset="0"/>
              </a:rPr>
              <a:t> Panda</a:t>
            </a:r>
          </a:p>
          <a:p>
            <a:pPr algn="l"/>
            <a:r>
              <a:rPr lang="en-US" sz="2000" dirty="0" smtClean="0">
                <a:latin typeface="Times New Roman" panose="02020603050405020304" pitchFamily="18" charset="0"/>
                <a:cs typeface="Times New Roman" panose="02020603050405020304" pitchFamily="18" charset="0"/>
              </a:rPr>
              <a:t>Mail-debasis.panda1985@gmail.com</a:t>
            </a:r>
          </a:p>
          <a:p>
            <a:pPr algn="l"/>
            <a:r>
              <a:rPr lang="en-US" sz="2000" dirty="0" smtClean="0">
                <a:latin typeface="Times New Roman" panose="02020603050405020304" pitchFamily="18" charset="0"/>
                <a:cs typeface="Times New Roman" panose="02020603050405020304" pitchFamily="18" charset="0"/>
              </a:rPr>
              <a:t>Batch-VI</a:t>
            </a:r>
          </a:p>
          <a:p>
            <a:pPr algn="l"/>
            <a:r>
              <a:rPr lang="en-US" sz="2000" dirty="0" smtClean="0">
                <a:latin typeface="Times New Roman" panose="02020603050405020304" pitchFamily="18" charset="0"/>
                <a:cs typeface="Times New Roman" panose="02020603050405020304" pitchFamily="18" charset="0"/>
              </a:rPr>
              <a:t>Project Domain-E-commerce</a:t>
            </a:r>
          </a:p>
          <a:p>
            <a:pPr algn="l"/>
            <a:r>
              <a:rPr lang="en-US" sz="2000" dirty="0" err="1" smtClean="0">
                <a:latin typeface="Times New Roman" panose="02020603050405020304" pitchFamily="18" charset="0"/>
                <a:cs typeface="Times New Roman" panose="02020603050405020304" pitchFamily="18" charset="0"/>
              </a:rPr>
              <a:t>Git</a:t>
            </a:r>
            <a:r>
              <a:rPr lang="en-US" sz="2000" dirty="0" smtClean="0">
                <a:latin typeface="Times New Roman" panose="02020603050405020304" pitchFamily="18" charset="0"/>
                <a:cs typeface="Times New Roman" panose="02020603050405020304" pitchFamily="18" charset="0"/>
              </a:rPr>
              <a:t> Hub </a:t>
            </a:r>
            <a:r>
              <a:rPr lang="en-US" sz="2000" dirty="0">
                <a:latin typeface="Times New Roman" panose="02020603050405020304" pitchFamily="18" charset="0"/>
                <a:cs typeface="Times New Roman" panose="02020603050405020304" pitchFamily="18" charset="0"/>
              </a:rPr>
              <a:t>Link-https://github.com/Deb052024/Amazon-Product-</a:t>
            </a:r>
            <a:r>
              <a:rPr lang="en-US" sz="2000" dirty="0" err="1">
                <a:latin typeface="Times New Roman" panose="02020603050405020304" pitchFamily="18" charset="0"/>
                <a:cs typeface="Times New Roman" panose="02020603050405020304" pitchFamily="18" charset="0"/>
              </a:rPr>
              <a:t>Review.git</a:t>
            </a:r>
            <a:endParaRPr lang="en-US" sz="2000" dirty="0" smtClean="0">
              <a:latin typeface="Times New Roman" panose="02020603050405020304" pitchFamily="18" charset="0"/>
              <a:cs typeface="Times New Roman" panose="02020603050405020304" pitchFamily="18" charset="0"/>
            </a:endParaRPr>
          </a:p>
          <a:p>
            <a:pPr algn="l"/>
            <a:endParaRPr lang="en-IN" sz="2000" dirty="0">
              <a:latin typeface="Times New Roman" panose="02020603050405020304" pitchFamily="18" charset="0"/>
              <a:cs typeface="Times New Roman" panose="02020603050405020304" pitchFamily="18" charset="0"/>
            </a:endParaRPr>
          </a:p>
        </p:txBody>
      </p:sp>
      <p:pic>
        <p:nvPicPr>
          <p:cNvPr id="1026" name="Picture 2" descr="Data for the analysis was collected from Twitter and reddi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04369" cy="15508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pic>
        <p:nvPicPr>
          <p:cNvPr id="5" name="image1.png"/>
          <p:cNvPicPr/>
          <p:nvPr/>
        </p:nvPicPr>
        <p:blipFill>
          <a:blip r:embed="rId3"/>
          <a:srcRect/>
          <a:stretch>
            <a:fillRect/>
          </a:stretch>
        </p:blipFill>
        <p:spPr>
          <a:xfrm>
            <a:off x="8133170" y="3603476"/>
            <a:ext cx="4058830" cy="223988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4" name="Picture 3"/>
          <p:cNvPicPr>
            <a:picLocks noChangeAspect="1"/>
          </p:cNvPicPr>
          <p:nvPr/>
        </p:nvPicPr>
        <p:blipFill>
          <a:blip r:embed="rId4"/>
          <a:stretch>
            <a:fillRect/>
          </a:stretch>
        </p:blipFill>
        <p:spPr>
          <a:xfrm>
            <a:off x="1904369" y="1550577"/>
            <a:ext cx="7239000" cy="1924050"/>
          </a:xfrm>
          <a:prstGeom prst="rect">
            <a:avLst/>
          </a:prstGeom>
        </p:spPr>
      </p:pic>
      <p:pic>
        <p:nvPicPr>
          <p:cNvPr id="1030" name="Picture 6" descr="Amazon wants to be everything to everyone, Retail News, ET Retail"/>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43369" y="-1"/>
            <a:ext cx="3048631" cy="161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6920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186518" y="71717"/>
            <a:ext cx="4195482" cy="40011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2000" b="1" dirty="0" smtClean="0">
                <a:latin typeface="Times New Roman" panose="02020603050405020304" pitchFamily="18" charset="0"/>
                <a:cs typeface="Times New Roman" panose="02020603050405020304" pitchFamily="18" charset="0"/>
              </a:rPr>
              <a:t>Flow of Sentiment Analysis</a:t>
            </a:r>
            <a:endParaRPr lang="en-IN" sz="20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564775" y="471828"/>
            <a:ext cx="10564780" cy="6324808"/>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marL="342900" indent="-342900">
              <a:buFont typeface="Wingdings" panose="05000000000000000000" pitchFamily="2" charset="2"/>
              <a:buChar char="v"/>
            </a:pPr>
            <a:r>
              <a:rPr lang="en-US" sz="1350" dirty="0" smtClean="0">
                <a:latin typeface="Times New Roman" panose="02020603050405020304" pitchFamily="18" charset="0"/>
                <a:cs typeface="Times New Roman" panose="02020603050405020304" pitchFamily="18" charset="0"/>
                <a:hlinkClick r:id="rId2" action="ppaction://hlinksldjump"/>
              </a:rPr>
              <a:t>Overview and Objective </a:t>
            </a:r>
            <a:endParaRPr lang="en-US" sz="1350" dirty="0" smtClean="0">
              <a:latin typeface="Times New Roman" panose="02020603050405020304" pitchFamily="18" charset="0"/>
              <a:cs typeface="Times New Roman" panose="02020603050405020304" pitchFamily="18" charset="0"/>
            </a:endParaRPr>
          </a:p>
          <a:p>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1350" dirty="0" smtClean="0">
                <a:latin typeface="Times New Roman" panose="02020603050405020304" pitchFamily="18" charset="0"/>
                <a:cs typeface="Times New Roman" panose="02020603050405020304" pitchFamily="18" charset="0"/>
                <a:hlinkClick r:id="rId3" action="ppaction://hlinksldjump"/>
              </a:rPr>
              <a:t>Exploratory Data Analysis and Feature Engineering   </a:t>
            </a: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1350" dirty="0">
                <a:latin typeface="Times New Roman" panose="02020603050405020304" pitchFamily="18" charset="0"/>
                <a:cs typeface="Times New Roman" panose="02020603050405020304" pitchFamily="18" charset="0"/>
              </a:rPr>
              <a:t> </a:t>
            </a:r>
            <a:r>
              <a:rPr lang="en-US" sz="1350" dirty="0" smtClean="0">
                <a:latin typeface="Times New Roman" panose="02020603050405020304" pitchFamily="18" charset="0"/>
                <a:cs typeface="Times New Roman" panose="02020603050405020304" pitchFamily="18" charset="0"/>
                <a:hlinkClick r:id="rId4" action="ppaction://hlinksldjump"/>
              </a:rPr>
              <a:t>Classifier Selection and Class Imbalance</a:t>
            </a: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1350" dirty="0">
                <a:latin typeface="Times New Roman" panose="02020603050405020304" pitchFamily="18" charset="0"/>
                <a:cs typeface="Times New Roman" panose="02020603050405020304" pitchFamily="18" charset="0"/>
              </a:rPr>
              <a:t> </a:t>
            </a:r>
            <a:r>
              <a:rPr lang="en-US" sz="1350" dirty="0" smtClean="0">
                <a:latin typeface="Times New Roman" panose="02020603050405020304" pitchFamily="18" charset="0"/>
                <a:cs typeface="Times New Roman" panose="02020603050405020304" pitchFamily="18" charset="0"/>
                <a:hlinkClick r:id="rId5" action="ppaction://hlinksldjump"/>
              </a:rPr>
              <a:t>Evaluation Metrics and AUC,ROC Curves</a:t>
            </a: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1350" dirty="0" smtClean="0">
                <a:latin typeface="Times New Roman" panose="02020603050405020304" pitchFamily="18" charset="0"/>
                <a:cs typeface="Times New Roman" panose="02020603050405020304" pitchFamily="18" charset="0"/>
                <a:hlinkClick r:id="rId6" action="ppaction://hlinksldjump"/>
              </a:rPr>
              <a:t> Advanced Methods and LSTM Implementation</a:t>
            </a: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a:latin typeface="Times New Roman" panose="02020603050405020304" pitchFamily="18" charset="0"/>
              <a:cs typeface="Times New Roman" panose="02020603050405020304" pitchFamily="18" charset="0"/>
              <a:hlinkClick r:id="rId7" action="ppaction://hlinksldjump"/>
            </a:endParaRPr>
          </a:p>
          <a:p>
            <a:pPr marL="342900" indent="-342900">
              <a:buFont typeface="Wingdings" panose="05000000000000000000" pitchFamily="2" charset="2"/>
              <a:buChar char="v"/>
            </a:pPr>
            <a:r>
              <a:rPr lang="en-US" sz="1350" dirty="0" smtClean="0">
                <a:latin typeface="Times New Roman" panose="02020603050405020304" pitchFamily="18" charset="0"/>
                <a:cs typeface="Times New Roman" panose="02020603050405020304" pitchFamily="18" charset="0"/>
                <a:hlinkClick r:id="rId7" action="ppaction://hlinksldjump"/>
              </a:rPr>
              <a:t> Comparison of Performance and Optimization</a:t>
            </a: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1350" dirty="0" smtClean="0">
                <a:latin typeface="Times New Roman" panose="02020603050405020304" pitchFamily="18" charset="0"/>
                <a:cs typeface="Times New Roman" panose="02020603050405020304" pitchFamily="18" charset="0"/>
                <a:hlinkClick r:id="rId8" action="ppaction://hlinksldjump"/>
              </a:rPr>
              <a:t>Topic Modelling</a:t>
            </a: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smtClean="0">
              <a:latin typeface="Times New Roman" panose="02020603050405020304" pitchFamily="18" charset="0"/>
              <a:cs typeface="Times New Roman" panose="02020603050405020304" pitchFamily="18" charset="0"/>
            </a:endParaRPr>
          </a:p>
          <a:p>
            <a:endParaRPr lang="en-US" sz="135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1350" dirty="0" smtClean="0">
                <a:latin typeface="Times New Roman" panose="02020603050405020304" pitchFamily="18" charset="0"/>
                <a:cs typeface="Times New Roman" panose="02020603050405020304" pitchFamily="18" charset="0"/>
                <a:hlinkClick r:id="rId9" action="ppaction://hlinksldjump"/>
              </a:rPr>
              <a:t>Conclusion</a:t>
            </a: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35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IN" sz="13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94333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199" y="624713"/>
            <a:ext cx="2235926" cy="58477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600" b="1" dirty="0">
                <a:latin typeface="Times New Roman" panose="02020603050405020304" pitchFamily="18" charset="0"/>
                <a:cs typeface="Times New Roman" panose="02020603050405020304" pitchFamily="18" charset="0"/>
              </a:rPr>
              <a:t>Overview </a:t>
            </a:r>
          </a:p>
          <a:p>
            <a:endParaRPr lang="en-IN" sz="1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838199" y="3594847"/>
            <a:ext cx="2140131" cy="338554"/>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600" b="1" dirty="0" smtClean="0">
                <a:latin typeface="Times New Roman" panose="02020603050405020304" pitchFamily="18" charset="0"/>
                <a:cs typeface="Times New Roman" panose="02020603050405020304" pitchFamily="18" charset="0"/>
              </a:rPr>
              <a:t>Objective</a:t>
            </a:r>
            <a:endParaRPr lang="en-IN" sz="16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838199" y="1317812"/>
            <a:ext cx="8700247" cy="175432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marL="285750" lvl="0" indent="-285750">
              <a:buFont typeface="Wingdings" panose="05000000000000000000" pitchFamily="2" charset="2"/>
              <a:buChar char="v"/>
              <a:defRPr>
                <a:latin typeface="Times New Roman" panose="02020603050405020304" pitchFamily="18" charset="0"/>
                <a:cs typeface="Times New Roman" panose="02020603050405020304" pitchFamily="18" charset="0"/>
              </a:defRPr>
            </a:lvl1pPr>
          </a:lstStyle>
          <a:p>
            <a:pPr marL="0" indent="0">
              <a:buNone/>
            </a:pPr>
            <a:r>
              <a:rPr lang="en-IN" dirty="0"/>
              <a:t>The </a:t>
            </a:r>
            <a:r>
              <a:rPr lang="en-IN" dirty="0" smtClean="0"/>
              <a:t>project </a:t>
            </a:r>
            <a:r>
              <a:rPr lang="en-IN" dirty="0" err="1"/>
              <a:t>analyzes</a:t>
            </a:r>
            <a:r>
              <a:rPr lang="en-IN" dirty="0"/>
              <a:t> sentiments expressed in over 34,000 reviews for Amazon brand products within the e-commerce domain. The dataset contains attributes such as brand, categories, review titles, review text, and sentiment levels categorized into "Positive," "Negative," and "Neutral." The project aims to predict sentiment or satisfaction levels based on various features and review text.</a:t>
            </a:r>
          </a:p>
          <a:p>
            <a:endParaRPr lang="en-IN" dirty="0"/>
          </a:p>
        </p:txBody>
      </p:sp>
      <p:sp>
        <p:nvSpPr>
          <p:cNvPr id="7" name="TextBox 6"/>
          <p:cNvSpPr txBox="1"/>
          <p:nvPr/>
        </p:nvSpPr>
        <p:spPr>
          <a:xfrm>
            <a:off x="838200" y="4168589"/>
            <a:ext cx="8700246" cy="203132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lvl="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Understand the sentiment expressed in consumer reviews.</a:t>
            </a:r>
          </a:p>
          <a:p>
            <a:pPr marL="285750" lvl="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Address class imbalance in sentiment categories. </a:t>
            </a:r>
          </a:p>
          <a:p>
            <a:pPr marL="285750" lvl="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Implement classifiers and advanced techniques for sentiment analysis.</a:t>
            </a:r>
          </a:p>
          <a:p>
            <a:pPr marL="285750" lvl="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Evaluate model performance using appropriate metrics.</a:t>
            </a:r>
          </a:p>
          <a:p>
            <a:pPr marL="285750" lvl="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Compare traditional machine learning algorithms with neural network approaches.</a:t>
            </a:r>
          </a:p>
          <a:p>
            <a:pPr marL="285750" lvl="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Explore topic </a:t>
            </a:r>
            <a:r>
              <a:rPr lang="en-IN" dirty="0" smtClean="0">
                <a:latin typeface="Times New Roman" panose="02020603050405020304" pitchFamily="18" charset="0"/>
                <a:cs typeface="Times New Roman" panose="02020603050405020304" pitchFamily="18" charset="0"/>
              </a:rPr>
              <a:t>modelling </a:t>
            </a:r>
            <a:r>
              <a:rPr lang="en-IN" dirty="0">
                <a:latin typeface="Times New Roman" panose="02020603050405020304" pitchFamily="18" charset="0"/>
                <a:cs typeface="Times New Roman" panose="02020603050405020304" pitchFamily="18" charset="0"/>
              </a:rPr>
              <a:t>techniques for clustering similar reviews.</a:t>
            </a:r>
          </a:p>
          <a:p>
            <a:endParaRPr lang="en-IN" dirty="0">
              <a:latin typeface="Times New Roman" panose="02020603050405020304" pitchFamily="18" charset="0"/>
              <a:cs typeface="Times New Roman" panose="02020603050405020304" pitchFamily="18" charset="0"/>
            </a:endParaRPr>
          </a:p>
        </p:txBody>
      </p:sp>
      <p:sp>
        <p:nvSpPr>
          <p:cNvPr id="2" name="TextBox 1"/>
          <p:cNvSpPr txBox="1"/>
          <p:nvPr/>
        </p:nvSpPr>
        <p:spPr>
          <a:xfrm>
            <a:off x="10214042" y="6021421"/>
            <a:ext cx="1977957"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hlinkClick r:id="rId2" action="ppaction://hlinksldjump"/>
              </a:rPr>
              <a:t>Master Side Link</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13402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39153" y="654424"/>
            <a:ext cx="6221506"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b="1" dirty="0">
                <a:latin typeface="Times New Roman" panose="02020603050405020304" pitchFamily="18" charset="0"/>
                <a:cs typeface="Times New Roman" panose="02020603050405020304" pitchFamily="18" charset="0"/>
              </a:rPr>
              <a:t>Exploratory Data Analysis and Feature Engineering   </a:t>
            </a:r>
          </a:p>
          <a:p>
            <a:endParaRPr lang="en-IN" b="1" dirty="0"/>
          </a:p>
        </p:txBody>
      </p:sp>
      <p:pic>
        <p:nvPicPr>
          <p:cNvPr id="5" name="Picture 4"/>
          <p:cNvPicPr>
            <a:picLocks noChangeAspect="1"/>
          </p:cNvPicPr>
          <p:nvPr/>
        </p:nvPicPr>
        <p:blipFill>
          <a:blip r:embed="rId2"/>
          <a:stretch>
            <a:fillRect/>
          </a:stretch>
        </p:blipFill>
        <p:spPr>
          <a:xfrm>
            <a:off x="153240" y="3255028"/>
            <a:ext cx="3171825" cy="25728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p:cNvPicPr>
            <a:picLocks noChangeAspect="1"/>
          </p:cNvPicPr>
          <p:nvPr/>
        </p:nvPicPr>
        <p:blipFill>
          <a:blip r:embed="rId3"/>
          <a:stretch>
            <a:fillRect/>
          </a:stretch>
        </p:blipFill>
        <p:spPr>
          <a:xfrm>
            <a:off x="116542" y="1435192"/>
            <a:ext cx="11914094" cy="1495425"/>
          </a:xfrm>
          <a:prstGeom prst="rect">
            <a:avLst/>
          </a:prstGeom>
          <a:ln>
            <a:noFill/>
          </a:ln>
          <a:effectLst>
            <a:outerShdw blurRad="292100" dist="139700" dir="2700000" algn="tl" rotWithShape="0">
              <a:srgbClr val="333333">
                <a:alpha val="65000"/>
              </a:srgbClr>
            </a:outerShdw>
          </a:effectLst>
        </p:spPr>
      </p:pic>
      <p:pic>
        <p:nvPicPr>
          <p:cNvPr id="7" name="Picture 6"/>
          <p:cNvPicPr>
            <a:picLocks noChangeAspect="1"/>
          </p:cNvPicPr>
          <p:nvPr/>
        </p:nvPicPr>
        <p:blipFill>
          <a:blip r:embed="rId4"/>
          <a:stretch>
            <a:fillRect/>
          </a:stretch>
        </p:blipFill>
        <p:spPr>
          <a:xfrm>
            <a:off x="10185586" y="3145769"/>
            <a:ext cx="1771650" cy="26193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p:cNvSpPr txBox="1"/>
          <p:nvPr/>
        </p:nvSpPr>
        <p:spPr>
          <a:xfrm>
            <a:off x="3536996" y="3189500"/>
            <a:ext cx="6436658" cy="3293209"/>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600" b="1" u="sng" dirty="0" smtClean="0">
                <a:latin typeface="Times New Roman" panose="02020603050405020304" pitchFamily="18" charset="0"/>
                <a:cs typeface="Times New Roman" panose="02020603050405020304" pitchFamily="18" charset="0"/>
              </a:rPr>
              <a:t>Interpretation</a:t>
            </a:r>
          </a:p>
          <a:p>
            <a:pPr marL="285750" indent="-285750">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 From </a:t>
            </a:r>
            <a:r>
              <a:rPr lang="en-US" sz="1600" b="1" dirty="0" smtClean="0">
                <a:latin typeface="Times New Roman" panose="02020603050405020304" pitchFamily="18" charset="0"/>
                <a:cs typeface="Times New Roman" panose="02020603050405020304" pitchFamily="18" charset="0"/>
              </a:rPr>
              <a:t>Fig-1 :</a:t>
            </a:r>
            <a:r>
              <a:rPr lang="en-US" sz="1600" dirty="0" smtClean="0">
                <a:latin typeface="Times New Roman" panose="02020603050405020304" pitchFamily="18" charset="0"/>
                <a:cs typeface="Times New Roman" panose="02020603050405020304" pitchFamily="18" charset="0"/>
              </a:rPr>
              <a:t> There are 23 unique Products , total Number of unique Primary Categories are 4,  unique sentiments are 3, We have 3598 unique review text as per Train data set</a:t>
            </a:r>
          </a:p>
          <a:p>
            <a:pPr marL="285750" indent="-285750">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 There are 8 features present in the Train Data set with Object type</a:t>
            </a:r>
          </a:p>
          <a:p>
            <a:pPr marL="285750" indent="-285750">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  From</a:t>
            </a:r>
            <a:r>
              <a:rPr lang="en-US" sz="1600" b="1" dirty="0" smtClean="0">
                <a:latin typeface="Times New Roman" panose="02020603050405020304" pitchFamily="18" charset="0"/>
                <a:cs typeface="Times New Roman" panose="02020603050405020304" pitchFamily="18" charset="0"/>
              </a:rPr>
              <a:t> Fig-3: </a:t>
            </a:r>
            <a:r>
              <a:rPr lang="en-US" sz="1600" dirty="0" smtClean="0">
                <a:latin typeface="Times New Roman" panose="02020603050405020304" pitchFamily="18" charset="0"/>
                <a:cs typeface="Times New Roman" panose="02020603050405020304" pitchFamily="18" charset="0"/>
              </a:rPr>
              <a:t>There exists 10 number of null values for </a:t>
            </a:r>
            <a:r>
              <a:rPr lang="en-US" sz="1600" dirty="0" err="1" smtClean="0">
                <a:latin typeface="Times New Roman" panose="02020603050405020304" pitchFamily="18" charset="0"/>
                <a:cs typeface="Times New Roman" panose="02020603050405020304" pitchFamily="18" charset="0"/>
              </a:rPr>
              <a:t>reviews.title</a:t>
            </a:r>
            <a:r>
              <a:rPr lang="en-US" sz="1600" dirty="0" smtClean="0">
                <a:latin typeface="Times New Roman" panose="02020603050405020304" pitchFamily="18" charset="0"/>
                <a:cs typeface="Times New Roman" panose="02020603050405020304" pitchFamily="18" charset="0"/>
              </a:rPr>
              <a:t> feature</a:t>
            </a:r>
          </a:p>
          <a:p>
            <a:pPr marL="285750" indent="-285750">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Most of the sentiments are </a:t>
            </a:r>
            <a:r>
              <a:rPr lang="en-US" sz="1600" b="1" dirty="0" smtClean="0">
                <a:latin typeface="Times New Roman" panose="02020603050405020304" pitchFamily="18" charset="0"/>
                <a:cs typeface="Times New Roman" panose="02020603050405020304" pitchFamily="18" charset="0"/>
              </a:rPr>
              <a:t>positive</a:t>
            </a:r>
            <a:r>
              <a:rPr lang="en-US" sz="1600" dirty="0" smtClean="0">
                <a:latin typeface="Times New Roman" panose="02020603050405020304" pitchFamily="18" charset="0"/>
                <a:cs typeface="Times New Roman" panose="02020603050405020304" pitchFamily="18" charset="0"/>
              </a:rPr>
              <a:t> about the product   </a:t>
            </a:r>
          </a:p>
          <a:p>
            <a:pPr marL="285750" indent="-285750">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 The Primary Category comes up to be </a:t>
            </a:r>
            <a:r>
              <a:rPr lang="en-US" sz="1600" b="1" dirty="0" smtClean="0">
                <a:latin typeface="Times New Roman" panose="02020603050405020304" pitchFamily="18" charset="0"/>
                <a:cs typeface="Times New Roman" panose="02020603050405020304" pitchFamily="18" charset="0"/>
              </a:rPr>
              <a:t>Electronics </a:t>
            </a:r>
            <a:r>
              <a:rPr lang="en-US" sz="1600" dirty="0" smtClean="0">
                <a:latin typeface="Times New Roman" panose="02020603050405020304" pitchFamily="18" charset="0"/>
                <a:cs typeface="Times New Roman" panose="02020603050405020304" pitchFamily="18" charset="0"/>
              </a:rPr>
              <a:t>as top </a:t>
            </a:r>
            <a:endParaRPr lang="en-IN"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8973671" y="1110781"/>
            <a:ext cx="121191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600" b="1" dirty="0" smtClean="0">
                <a:latin typeface="Times New Roman" panose="02020603050405020304" pitchFamily="18" charset="0"/>
                <a:cs typeface="Times New Roman" panose="02020603050405020304" pitchFamily="18" charset="0"/>
              </a:rPr>
              <a:t>Fig-1</a:t>
            </a:r>
            <a:endParaRPr lang="en-IN" sz="1600"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10465453" y="5811019"/>
            <a:ext cx="1211915" cy="33855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b="1" dirty="0" smtClean="0">
                <a:latin typeface="Times New Roman" panose="02020603050405020304" pitchFamily="18" charset="0"/>
                <a:cs typeface="Times New Roman" panose="02020603050405020304" pitchFamily="18" charset="0"/>
              </a:rPr>
              <a:t>Fig-3</a:t>
            </a:r>
            <a:endParaRPr lang="en-IN" sz="1600" b="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681318" y="5897934"/>
            <a:ext cx="1211915" cy="33855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b="1" dirty="0" smtClean="0">
                <a:latin typeface="Times New Roman" panose="02020603050405020304" pitchFamily="18" charset="0"/>
                <a:cs typeface="Times New Roman" panose="02020603050405020304" pitchFamily="18" charset="0"/>
              </a:rPr>
              <a:t>Fig-2</a:t>
            </a:r>
            <a:endParaRPr lang="en-IN" sz="16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10185585" y="6344209"/>
            <a:ext cx="1977957"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hlinkClick r:id="rId5" action="ppaction://hlinksldjump"/>
              </a:rPr>
              <a:t>Master Side Link</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22787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5353594" cy="549274"/>
          </a:xfrm>
        </p:spPr>
        <p:style>
          <a:lnRef idx="2">
            <a:schemeClr val="accent3"/>
          </a:lnRef>
          <a:fillRef idx="1">
            <a:schemeClr val="lt1"/>
          </a:fillRef>
          <a:effectRef idx="0">
            <a:schemeClr val="accent3"/>
          </a:effectRef>
          <a:fontRef idx="minor">
            <a:schemeClr val="dk1"/>
          </a:fontRef>
        </p:style>
        <p:txBody>
          <a:bodyPr>
            <a:normAutofit/>
          </a:bodyPr>
          <a:lstStyle/>
          <a:p>
            <a:r>
              <a:rPr lang="en-US" sz="2000" b="1" dirty="0" smtClean="0">
                <a:latin typeface="Times New Roman" panose="02020603050405020304" pitchFamily="18" charset="0"/>
                <a:cs typeface="Times New Roman" panose="02020603050405020304" pitchFamily="18" charset="0"/>
              </a:rPr>
              <a:t>Feature Engineering-Null Value Treatment  </a:t>
            </a:r>
            <a:endParaRPr lang="en-IN" sz="20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53143" y="1010194"/>
            <a:ext cx="5917882" cy="575542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171450" indent="-171450">
              <a:buFont typeface="Wingdings" panose="05000000000000000000" pitchFamily="2" charset="2"/>
              <a:buChar char="v"/>
            </a:pPr>
            <a:r>
              <a:rPr lang="en-US" sz="1600" b="1" dirty="0" smtClean="0">
                <a:latin typeface="Times New Roman" panose="02020603050405020304" pitchFamily="18" charset="0"/>
                <a:cs typeface="Times New Roman" panose="02020603050405020304" pitchFamily="18" charset="0"/>
              </a:rPr>
              <a:t>Vader Sentiment Analyzer </a:t>
            </a:r>
            <a:r>
              <a:rPr lang="en-US" sz="1600" dirty="0" smtClean="0">
                <a:latin typeface="Times New Roman" panose="02020603050405020304" pitchFamily="18" charset="0"/>
                <a:cs typeface="Times New Roman" panose="02020603050405020304" pitchFamily="18" charset="0"/>
              </a:rPr>
              <a:t>was applied on the  Data Set and Sentiment Score was given to the reviews </a:t>
            </a:r>
          </a:p>
          <a:p>
            <a:pPr marL="171450" indent="-171450">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Sentiment Score with Less than 0 was attributed as Negative  </a:t>
            </a:r>
          </a:p>
          <a:p>
            <a:pPr marL="171450" indent="-171450">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Sentiment score with 0 and more than 0 was attributed as Positive</a:t>
            </a:r>
          </a:p>
          <a:p>
            <a:pPr marL="171450" indent="-171450">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The Null values present with the</a:t>
            </a:r>
            <a:r>
              <a:rPr lang="en-US" sz="1600" b="1" dirty="0" smtClean="0">
                <a:latin typeface="Times New Roman" panose="02020603050405020304" pitchFamily="18" charset="0"/>
                <a:cs typeface="Times New Roman" panose="02020603050405020304" pitchFamily="18" charset="0"/>
              </a:rPr>
              <a:t> </a:t>
            </a:r>
            <a:r>
              <a:rPr lang="en-US" sz="1600" b="1" dirty="0" err="1" smtClean="0">
                <a:latin typeface="Times New Roman" panose="02020603050405020304" pitchFamily="18" charset="0"/>
                <a:cs typeface="Times New Roman" panose="02020603050405020304" pitchFamily="18" charset="0"/>
              </a:rPr>
              <a:t>reviews.title</a:t>
            </a:r>
            <a:r>
              <a:rPr lang="en-US" sz="1600" b="1"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were replaced based on the sentiment score</a:t>
            </a:r>
          </a:p>
          <a:p>
            <a:pPr marL="171450" indent="-171450">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From Fig-1. we can find Electronics, Media has got the highest sentiment score followed by </a:t>
            </a:r>
            <a:r>
              <a:rPr lang="en-US" sz="1600" b="1" dirty="0" err="1" smtClean="0">
                <a:latin typeface="Times New Roman" panose="02020603050405020304" pitchFamily="18" charset="0"/>
                <a:cs typeface="Times New Roman" panose="02020603050405020304" pitchFamily="18" charset="0"/>
              </a:rPr>
              <a:t>Electronics,Hardware</a:t>
            </a:r>
            <a:endParaRPr lang="en-US" sz="1600" b="1" dirty="0" smtClean="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  </a:t>
            </a:r>
            <a:r>
              <a:rPr lang="en-US" sz="1600" b="1" dirty="0" smtClean="0">
                <a:latin typeface="Times New Roman" panose="02020603050405020304" pitchFamily="18" charset="0"/>
                <a:cs typeface="Times New Roman" panose="02020603050405020304" pitchFamily="18" charset="0"/>
              </a:rPr>
              <a:t> TF-</a:t>
            </a:r>
            <a:r>
              <a:rPr lang="en-US" sz="1600" b="1" dirty="0" err="1" smtClean="0">
                <a:latin typeface="Times New Roman" panose="02020603050405020304" pitchFamily="18" charset="0"/>
                <a:cs typeface="Times New Roman" panose="02020603050405020304" pitchFamily="18" charset="0"/>
              </a:rPr>
              <a:t>IDFVectorizer</a:t>
            </a:r>
            <a:r>
              <a:rPr lang="en-US" sz="1600" b="1"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was applied on the </a:t>
            </a:r>
            <a:r>
              <a:rPr lang="en-US" sz="1600" b="1" dirty="0" err="1" smtClean="0">
                <a:latin typeface="Times New Roman" panose="02020603050405020304" pitchFamily="18" charset="0"/>
                <a:cs typeface="Times New Roman" panose="02020603050405020304" pitchFamily="18" charset="0"/>
              </a:rPr>
              <a:t>reviews.text</a:t>
            </a:r>
            <a:r>
              <a:rPr lang="en-US" sz="1600" b="1"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feature and sparse matrix was calculated for the reviews  , part of feature engineering </a:t>
            </a:r>
            <a:r>
              <a:rPr lang="en-US" sz="1600" dirty="0" smtClean="0">
                <a:latin typeface="Times New Roman" panose="02020603050405020304" pitchFamily="18" charset="0"/>
                <a:cs typeface="Times New Roman" panose="02020603050405020304" pitchFamily="18" charset="0"/>
              </a:rPr>
              <a:t>, also </a:t>
            </a:r>
            <a:r>
              <a:rPr lang="en-US" sz="1600" dirty="0" err="1" smtClean="0">
                <a:latin typeface="Times New Roman" panose="02020603050405020304" pitchFamily="18" charset="0"/>
                <a:cs typeface="Times New Roman" panose="02020603050405020304" pitchFamily="18" charset="0"/>
              </a:rPr>
              <a:t>sentiment_score</a:t>
            </a:r>
            <a:r>
              <a:rPr lang="en-US" sz="1600" dirty="0" smtClean="0">
                <a:latin typeface="Times New Roman" panose="02020603050405020304" pitchFamily="18" charset="0"/>
                <a:cs typeface="Times New Roman" panose="02020603050405020304" pitchFamily="18" charset="0"/>
              </a:rPr>
              <a:t> was included with Vader sentiment Analyzer as a part of it</a:t>
            </a:r>
            <a:endParaRPr lang="en-IN" sz="16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6823573" y="1680754"/>
            <a:ext cx="5167293" cy="29434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p:cNvSpPr txBox="1"/>
          <p:nvPr/>
        </p:nvSpPr>
        <p:spPr>
          <a:xfrm>
            <a:off x="8395063" y="4859383"/>
            <a:ext cx="1184366"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600" dirty="0" smtClean="0">
                <a:latin typeface="Times New Roman" panose="02020603050405020304" pitchFamily="18" charset="0"/>
                <a:cs typeface="Times New Roman" panose="02020603050405020304" pitchFamily="18" charset="0"/>
              </a:rPr>
              <a:t>Figure-1</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05602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00846" y="418011"/>
            <a:ext cx="4824548" cy="33855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b="1" dirty="0" smtClean="0">
                <a:latin typeface="Times New Roman" panose="02020603050405020304" pitchFamily="18" charset="0"/>
                <a:cs typeface="Times New Roman" panose="02020603050405020304" pitchFamily="18" charset="0"/>
              </a:rPr>
              <a:t>Classifier Selection and Class Imbalance Address</a:t>
            </a:r>
            <a:endParaRPr lang="en-IN" sz="16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7794171" y="1527554"/>
            <a:ext cx="4019685" cy="2485344"/>
          </a:xfrm>
          <a:prstGeom prst="rect">
            <a:avLst/>
          </a:prstGeom>
          <a:ln>
            <a:noFill/>
          </a:ln>
          <a:effectLst>
            <a:outerShdw blurRad="292100" dist="139700" dir="2700000" algn="tl" rotWithShape="0">
              <a:srgbClr val="333333">
                <a:alpha val="65000"/>
              </a:srgbClr>
            </a:outerShdw>
          </a:effectLst>
        </p:spPr>
      </p:pic>
      <p:sp>
        <p:nvSpPr>
          <p:cNvPr id="3" name="TextBox 2"/>
          <p:cNvSpPr txBox="1"/>
          <p:nvPr/>
        </p:nvSpPr>
        <p:spPr>
          <a:xfrm>
            <a:off x="60961" y="1109525"/>
            <a:ext cx="3718423" cy="24622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sz="1000" b="1" dirty="0" smtClean="0">
                <a:latin typeface="Times New Roman" panose="02020603050405020304" pitchFamily="18" charset="0"/>
                <a:cs typeface="Times New Roman" panose="02020603050405020304" pitchFamily="18" charset="0"/>
              </a:rPr>
              <a:t>Multinomial </a:t>
            </a:r>
            <a:r>
              <a:rPr lang="en-IN" sz="1000" b="1" dirty="0">
                <a:latin typeface="Times New Roman" panose="02020603050405020304" pitchFamily="18" charset="0"/>
                <a:cs typeface="Times New Roman" panose="02020603050405020304" pitchFamily="18" charset="0"/>
              </a:rPr>
              <a:t>Naive Bayes </a:t>
            </a:r>
            <a:r>
              <a:rPr lang="en-IN" sz="1000" b="1" dirty="0" smtClean="0">
                <a:latin typeface="Times New Roman" panose="02020603050405020304" pitchFamily="18" charset="0"/>
                <a:cs typeface="Times New Roman" panose="02020603050405020304" pitchFamily="18" charset="0"/>
              </a:rPr>
              <a:t>Classifier </a:t>
            </a:r>
            <a:endParaRPr lang="en-IN" sz="10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143759" y="1699804"/>
            <a:ext cx="3552825" cy="19431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p:cNvSpPr txBox="1"/>
          <p:nvPr/>
        </p:nvSpPr>
        <p:spPr>
          <a:xfrm>
            <a:off x="143759" y="3936274"/>
            <a:ext cx="3635625" cy="249299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600" b="1" dirty="0" smtClean="0">
                <a:latin typeface="Times New Roman" panose="02020603050405020304" pitchFamily="18" charset="0"/>
                <a:cs typeface="Times New Roman" panose="02020603050405020304" pitchFamily="18" charset="0"/>
              </a:rPr>
              <a:t>Interpretation</a:t>
            </a:r>
          </a:p>
          <a:p>
            <a:endParaRPr lang="en-US" sz="14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Multinomial Naïve </a:t>
            </a:r>
            <a:r>
              <a:rPr lang="en-US" sz="1400" dirty="0" err="1" smtClean="0">
                <a:latin typeface="Times New Roman" panose="02020603050405020304" pitchFamily="18" charset="0"/>
                <a:cs typeface="Times New Roman" panose="02020603050405020304" pitchFamily="18" charset="0"/>
              </a:rPr>
              <a:t>Bayers</a:t>
            </a:r>
            <a:r>
              <a:rPr lang="en-US" sz="1400" dirty="0" smtClean="0">
                <a:latin typeface="Times New Roman" panose="02020603050405020304" pitchFamily="18" charset="0"/>
                <a:cs typeface="Times New Roman" panose="02020603050405020304" pitchFamily="18" charset="0"/>
              </a:rPr>
              <a:t> Classifier -The very high combination of precision , recall ,f1-score and accuracy score makes it a over biased model towards Positive sentiments class</a:t>
            </a:r>
          </a:p>
          <a:p>
            <a:pPr marL="285750" indent="-285750">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The classifier performs very poorly for the Negative and neutral class</a:t>
            </a:r>
          </a:p>
          <a:p>
            <a:pPr marL="285750" indent="-285750">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It is a reflection of the class imbalance for the train data</a:t>
            </a:r>
            <a:endParaRPr lang="en-IN" sz="1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992777" y="3620312"/>
            <a:ext cx="1120992" cy="33855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b="1" dirty="0" smtClean="0">
                <a:latin typeface="Times New Roman" panose="02020603050405020304" pitchFamily="18" charset="0"/>
                <a:cs typeface="Times New Roman" panose="02020603050405020304" pitchFamily="18" charset="0"/>
              </a:rPr>
              <a:t>Fig-1</a:t>
            </a:r>
            <a:endParaRPr lang="en-IN" sz="16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3864190" y="1109525"/>
            <a:ext cx="3929981" cy="26161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100" b="1" dirty="0" smtClean="0">
                <a:latin typeface="Times New Roman" panose="02020603050405020304" pitchFamily="18" charset="0"/>
                <a:cs typeface="Times New Roman" panose="02020603050405020304" pitchFamily="18" charset="0"/>
              </a:rPr>
              <a:t>Multinomial Naïve Bayes Classifier-Post SMOTE</a:t>
            </a:r>
            <a:endParaRPr lang="en-IN" sz="1100" b="1"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4"/>
          <a:stretch>
            <a:fillRect/>
          </a:stretch>
        </p:blipFill>
        <p:spPr>
          <a:xfrm>
            <a:off x="3864190" y="1628366"/>
            <a:ext cx="3762375" cy="20859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TextBox 9"/>
          <p:cNvSpPr txBox="1"/>
          <p:nvPr/>
        </p:nvSpPr>
        <p:spPr>
          <a:xfrm>
            <a:off x="3946989" y="3849189"/>
            <a:ext cx="4726748" cy="289310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400" b="1" dirty="0" smtClean="0">
                <a:latin typeface="Times New Roman" panose="02020603050405020304" pitchFamily="18" charset="0"/>
                <a:cs typeface="Times New Roman" panose="02020603050405020304" pitchFamily="18" charset="0"/>
              </a:rPr>
              <a:t>Interpretation</a:t>
            </a:r>
          </a:p>
          <a:p>
            <a:pPr marL="285750" indent="-285750">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 SMOTE was applied to oversample the minority class </a:t>
            </a:r>
          </a:p>
          <a:p>
            <a:pPr marL="285750" indent="-285750">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  It leads to decline in the precision,recall,f-1 score and accuracy score of the same Multinomial Naïve Bayes Classifier</a:t>
            </a:r>
          </a:p>
          <a:p>
            <a:pPr marL="285750" indent="-285750">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400" b="1" dirty="0" smtClean="0">
                <a:latin typeface="Times New Roman" panose="02020603050405020304" pitchFamily="18" charset="0"/>
                <a:cs typeface="Times New Roman" panose="02020603050405020304" pitchFamily="18" charset="0"/>
              </a:rPr>
              <a:t> How ever there is improvement in the Negative and Neutral class </a:t>
            </a:r>
            <a:r>
              <a:rPr lang="en-US" sz="1400" dirty="0" smtClean="0">
                <a:latin typeface="Times New Roman" panose="02020603050405020304" pitchFamily="18" charset="0"/>
                <a:cs typeface="Times New Roman" panose="02020603050405020304" pitchFamily="18" charset="0"/>
              </a:rPr>
              <a:t>metrics</a:t>
            </a:r>
          </a:p>
          <a:p>
            <a:pPr marL="285750" indent="-28575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 </a:t>
            </a:r>
            <a:endParaRPr lang="en-US" sz="1400" b="1"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IN" sz="1400" b="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5356773" y="3597720"/>
            <a:ext cx="966652" cy="33855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b="1" dirty="0" smtClean="0">
                <a:latin typeface="Times New Roman" panose="02020603050405020304" pitchFamily="18" charset="0"/>
                <a:cs typeface="Times New Roman" panose="02020603050405020304" pitchFamily="18" charset="0"/>
              </a:rPr>
              <a:t>Fig-2</a:t>
            </a:r>
            <a:endParaRPr lang="en-IN" sz="16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10214042" y="6021421"/>
            <a:ext cx="1977957"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hlinkClick r:id="rId5" action="ppaction://hlinksldjump"/>
              </a:rPr>
              <a:t>Master Side Link</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62593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316" y="151118"/>
            <a:ext cx="10457234" cy="549273"/>
          </a:xfrm>
        </p:spPr>
        <p:style>
          <a:lnRef idx="2">
            <a:schemeClr val="accent1"/>
          </a:lnRef>
          <a:fillRef idx="1">
            <a:schemeClr val="lt1"/>
          </a:fillRef>
          <a:effectRef idx="0">
            <a:schemeClr val="accent1"/>
          </a:effectRef>
          <a:fontRef idx="minor">
            <a:schemeClr val="dk1"/>
          </a:fontRef>
        </p:style>
        <p:txBody>
          <a:bodyPr>
            <a:normAutofit fontScale="90000"/>
          </a:bodyPr>
          <a:lstStyle/>
          <a:p>
            <a:r>
              <a:rPr lang="en-US" sz="2000" b="1" dirty="0" smtClean="0">
                <a:latin typeface="Times New Roman" panose="02020603050405020304" pitchFamily="18" charset="0"/>
                <a:cs typeface="Times New Roman" panose="02020603050405020304" pitchFamily="18" charset="0"/>
              </a:rPr>
              <a:t>Class Imbalance Address-Multinomial Naïve Bayes Post SMOTHE and Hyper Parameter Tuning</a:t>
            </a:r>
            <a:endParaRPr lang="en-IN" sz="20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3540970" y="778212"/>
            <a:ext cx="4669175" cy="1877381"/>
          </a:xfrm>
          <a:prstGeom prst="rect">
            <a:avLst/>
          </a:prstGeom>
          <a:ln>
            <a:noFill/>
          </a:ln>
          <a:effectLst>
            <a:outerShdw blurRad="190500" algn="tl" rotWithShape="0">
              <a:srgbClr val="000000">
                <a:alpha val="70000"/>
              </a:srgbClr>
            </a:outerShdw>
          </a:effectLst>
        </p:spPr>
      </p:pic>
      <p:sp>
        <p:nvSpPr>
          <p:cNvPr id="10" name="TextBox 9"/>
          <p:cNvSpPr txBox="1"/>
          <p:nvPr/>
        </p:nvSpPr>
        <p:spPr>
          <a:xfrm>
            <a:off x="0" y="2910191"/>
            <a:ext cx="6381345" cy="355481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lvl="0" eaLnBrk="0" fontAlgn="base" hangingPunct="0">
              <a:spcBef>
                <a:spcPct val="0"/>
              </a:spcBef>
              <a:spcAft>
                <a:spcPct val="0"/>
              </a:spcAft>
            </a:pPr>
            <a:r>
              <a:rPr lang="en-US" altLang="en-US" sz="900" b="1" dirty="0" smtClean="0">
                <a:solidFill>
                  <a:srgbClr val="1F1F1F"/>
                </a:solidFill>
                <a:latin typeface="Times New Roman" panose="02020603050405020304" pitchFamily="18" charset="0"/>
                <a:cs typeface="Times New Roman" panose="02020603050405020304" pitchFamily="18" charset="0"/>
              </a:rPr>
              <a:t>Interpretation: </a:t>
            </a:r>
          </a:p>
          <a:p>
            <a:pPr lvl="0" eaLnBrk="0" fontAlgn="base" hangingPunct="0">
              <a:spcBef>
                <a:spcPct val="0"/>
              </a:spcBef>
              <a:spcAft>
                <a:spcPct val="0"/>
              </a:spcAft>
            </a:pPr>
            <a:r>
              <a:rPr lang="en-US" altLang="en-US" sz="900" b="1" dirty="0" smtClean="0">
                <a:solidFill>
                  <a:srgbClr val="1F1F1F"/>
                </a:solidFill>
                <a:latin typeface="Times New Roman" panose="02020603050405020304" pitchFamily="18" charset="0"/>
                <a:cs typeface="Times New Roman" panose="02020603050405020304" pitchFamily="18" charset="0"/>
              </a:rPr>
              <a:t>Best </a:t>
            </a:r>
            <a:r>
              <a:rPr lang="en-US" altLang="en-US" sz="900" b="1" dirty="0" err="1">
                <a:solidFill>
                  <a:srgbClr val="1F1F1F"/>
                </a:solidFill>
                <a:latin typeface="Times New Roman" panose="02020603050405020304" pitchFamily="18" charset="0"/>
                <a:cs typeface="Times New Roman" panose="02020603050405020304" pitchFamily="18" charset="0"/>
              </a:rPr>
              <a:t>Hyperparameters</a:t>
            </a:r>
            <a:r>
              <a:rPr lang="en-US" altLang="en-US" sz="900" b="1" dirty="0">
                <a:solidFill>
                  <a:srgbClr val="1F1F1F"/>
                </a:solidFill>
                <a:latin typeface="Times New Roman" panose="02020603050405020304" pitchFamily="18" charset="0"/>
                <a:cs typeface="Times New Roman" panose="02020603050405020304" pitchFamily="18" charset="0"/>
              </a:rPr>
              <a:t>:</a:t>
            </a:r>
            <a:endParaRPr lang="en-US" altLang="en-US" sz="9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900" dirty="0">
                <a:solidFill>
                  <a:srgbClr val="1F1F1F"/>
                </a:solidFill>
                <a:latin typeface="Times New Roman" panose="02020603050405020304" pitchFamily="18" charset="0"/>
                <a:cs typeface="Times New Roman" panose="02020603050405020304" pitchFamily="18" charset="0"/>
              </a:rPr>
              <a:t>alpha: 0.1 (Laplace smoothing parameter)</a:t>
            </a:r>
          </a:p>
          <a:p>
            <a:pPr lvl="0" eaLnBrk="0" fontAlgn="base" hangingPunct="0">
              <a:spcBef>
                <a:spcPct val="0"/>
              </a:spcBef>
              <a:spcAft>
                <a:spcPct val="0"/>
              </a:spcAft>
              <a:buFontTx/>
              <a:buChar char="•"/>
            </a:pPr>
            <a:r>
              <a:rPr lang="en-US" altLang="en-US" sz="900" dirty="0" err="1">
                <a:solidFill>
                  <a:srgbClr val="1F1F1F"/>
                </a:solidFill>
                <a:latin typeface="Times New Roman" panose="02020603050405020304" pitchFamily="18" charset="0"/>
                <a:cs typeface="Times New Roman" panose="02020603050405020304" pitchFamily="18" charset="0"/>
              </a:rPr>
              <a:t>fit_prior</a:t>
            </a:r>
            <a:r>
              <a:rPr lang="en-US" altLang="en-US" sz="900" dirty="0">
                <a:solidFill>
                  <a:srgbClr val="1F1F1F"/>
                </a:solidFill>
                <a:latin typeface="Times New Roman" panose="02020603050405020304" pitchFamily="18" charset="0"/>
                <a:cs typeface="Times New Roman" panose="02020603050405020304" pitchFamily="18" charset="0"/>
              </a:rPr>
              <a:t>: False (Whether to learn class prior probabilities)</a:t>
            </a:r>
          </a:p>
          <a:p>
            <a:pPr lvl="0" eaLnBrk="0" fontAlgn="base" hangingPunct="0">
              <a:spcBef>
                <a:spcPct val="0"/>
              </a:spcBef>
              <a:spcAft>
                <a:spcPct val="0"/>
              </a:spcAft>
            </a:pPr>
            <a:r>
              <a:rPr lang="en-US" altLang="en-US" sz="900" dirty="0">
                <a:solidFill>
                  <a:srgbClr val="1F1F1F"/>
                </a:solidFill>
                <a:latin typeface="Times New Roman" panose="02020603050405020304" pitchFamily="18" charset="0"/>
                <a:cs typeface="Times New Roman" panose="02020603050405020304" pitchFamily="18" charset="0"/>
              </a:rPr>
              <a:t>These </a:t>
            </a:r>
            <a:r>
              <a:rPr lang="en-US" altLang="en-US" sz="900" dirty="0" err="1">
                <a:solidFill>
                  <a:srgbClr val="1F1F1F"/>
                </a:solidFill>
                <a:latin typeface="Times New Roman" panose="02020603050405020304" pitchFamily="18" charset="0"/>
                <a:cs typeface="Times New Roman" panose="02020603050405020304" pitchFamily="18" charset="0"/>
              </a:rPr>
              <a:t>hyperparameters</a:t>
            </a:r>
            <a:r>
              <a:rPr lang="en-US" altLang="en-US" sz="900" dirty="0">
                <a:solidFill>
                  <a:srgbClr val="1F1F1F"/>
                </a:solidFill>
                <a:latin typeface="Times New Roman" panose="02020603050405020304" pitchFamily="18" charset="0"/>
                <a:cs typeface="Times New Roman" panose="02020603050405020304" pitchFamily="18" charset="0"/>
              </a:rPr>
              <a:t> were found to be optimal for your model using techniques like </a:t>
            </a:r>
            <a:r>
              <a:rPr lang="en-US" altLang="en-US" sz="900" dirty="0" err="1">
                <a:solidFill>
                  <a:srgbClr val="1F1F1F"/>
                </a:solidFill>
                <a:latin typeface="Times New Roman" panose="02020603050405020304" pitchFamily="18" charset="0"/>
                <a:cs typeface="Times New Roman" panose="02020603050405020304" pitchFamily="18" charset="0"/>
              </a:rPr>
              <a:t>GridSearchCV</a:t>
            </a:r>
            <a:r>
              <a:rPr lang="en-US" altLang="en-US" sz="900" dirty="0">
                <a:solidFill>
                  <a:srgbClr val="1F1F1F"/>
                </a:solidFill>
                <a:latin typeface="Times New Roman" panose="02020603050405020304" pitchFamily="18" charset="0"/>
                <a:cs typeface="Times New Roman" panose="02020603050405020304" pitchFamily="18" charset="0"/>
              </a:rPr>
              <a:t> or </a:t>
            </a:r>
            <a:r>
              <a:rPr lang="en-US" altLang="en-US" sz="900" dirty="0" err="1">
                <a:solidFill>
                  <a:srgbClr val="1F1F1F"/>
                </a:solidFill>
                <a:latin typeface="Times New Roman" panose="02020603050405020304" pitchFamily="18" charset="0"/>
                <a:cs typeface="Times New Roman" panose="02020603050405020304" pitchFamily="18" charset="0"/>
              </a:rPr>
              <a:t>RandomizedSearchCV</a:t>
            </a:r>
            <a:r>
              <a:rPr lang="en-US" altLang="en-US" sz="900" dirty="0">
                <a:solidFill>
                  <a:srgbClr val="1F1F1F"/>
                </a:solidFill>
                <a:latin typeface="Times New Roman" panose="02020603050405020304" pitchFamily="18" charset="0"/>
                <a:cs typeface="Times New Roman" panose="02020603050405020304" pitchFamily="18" charset="0"/>
              </a:rPr>
              <a:t>, based on a specific scoring metric (likely accuracy or F1-score).</a:t>
            </a:r>
            <a:endParaRPr lang="en-US" altLang="en-US" sz="9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900" b="1" dirty="0">
                <a:solidFill>
                  <a:srgbClr val="1F1F1F"/>
                </a:solidFill>
                <a:latin typeface="Times New Roman" panose="02020603050405020304" pitchFamily="18" charset="0"/>
                <a:cs typeface="Times New Roman" panose="02020603050405020304" pitchFamily="18" charset="0"/>
              </a:rPr>
              <a:t>Performance Metrics:</a:t>
            </a:r>
            <a:endParaRPr lang="en-US" altLang="en-US" sz="9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900" dirty="0">
                <a:solidFill>
                  <a:srgbClr val="1F1F1F"/>
                </a:solidFill>
                <a:latin typeface="Times New Roman" panose="02020603050405020304" pitchFamily="18" charset="0"/>
                <a:cs typeface="Times New Roman" panose="02020603050405020304" pitchFamily="18" charset="0"/>
              </a:rPr>
              <a:t>The classification report and confusion matrix provide detailed insights into your model's performance on the test data:</a:t>
            </a:r>
            <a:endParaRPr lang="en-US" altLang="en-US" sz="9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900" b="1" dirty="0">
                <a:solidFill>
                  <a:srgbClr val="1F1F1F"/>
                </a:solidFill>
                <a:latin typeface="Times New Roman" panose="02020603050405020304" pitchFamily="18" charset="0"/>
                <a:cs typeface="Times New Roman" panose="02020603050405020304" pitchFamily="18" charset="0"/>
              </a:rPr>
              <a:t>Precision:</a:t>
            </a:r>
            <a:endParaRPr lang="en-US" altLang="en-US" sz="900" dirty="0">
              <a:solidFill>
                <a:srgbClr val="1F1F1F"/>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lang="en-US" altLang="en-US" sz="900" dirty="0">
                <a:solidFill>
                  <a:srgbClr val="1F1F1F"/>
                </a:solidFill>
                <a:latin typeface="Times New Roman" panose="02020603050405020304" pitchFamily="18" charset="0"/>
                <a:cs typeface="Times New Roman" panose="02020603050405020304" pitchFamily="18" charset="0"/>
              </a:rPr>
              <a:t>Negative: 0.70 (Out of all reviews predicted as negative, 70% were actually negative)</a:t>
            </a:r>
          </a:p>
          <a:p>
            <a:pPr lvl="1" eaLnBrk="0" fontAlgn="base" hangingPunct="0">
              <a:spcBef>
                <a:spcPct val="0"/>
              </a:spcBef>
              <a:spcAft>
                <a:spcPct val="0"/>
              </a:spcAft>
              <a:buFontTx/>
              <a:buChar char="•"/>
            </a:pPr>
            <a:r>
              <a:rPr lang="en-US" altLang="en-US" sz="900" dirty="0">
                <a:solidFill>
                  <a:srgbClr val="1F1F1F"/>
                </a:solidFill>
                <a:latin typeface="Times New Roman" panose="02020603050405020304" pitchFamily="18" charset="0"/>
                <a:cs typeface="Times New Roman" panose="02020603050405020304" pitchFamily="18" charset="0"/>
              </a:rPr>
              <a:t>Neutral: 0.60 (Out of all reviews predicted as neutral, 60% were actually neutral)</a:t>
            </a:r>
          </a:p>
          <a:p>
            <a:pPr lvl="1" eaLnBrk="0" fontAlgn="base" hangingPunct="0">
              <a:spcBef>
                <a:spcPct val="0"/>
              </a:spcBef>
              <a:spcAft>
                <a:spcPct val="0"/>
              </a:spcAft>
              <a:buFontTx/>
              <a:buChar char="•"/>
            </a:pPr>
            <a:r>
              <a:rPr lang="en-US" altLang="en-US" sz="900" dirty="0">
                <a:solidFill>
                  <a:srgbClr val="1F1F1F"/>
                </a:solidFill>
                <a:latin typeface="Times New Roman" panose="02020603050405020304" pitchFamily="18" charset="0"/>
                <a:cs typeface="Times New Roman" panose="02020603050405020304" pitchFamily="18" charset="0"/>
              </a:rPr>
              <a:t>Positive: 0.81 (Out of all reviews predicted as positive, 81% were actually positive)</a:t>
            </a:r>
          </a:p>
          <a:p>
            <a:pPr lvl="0" eaLnBrk="0" fontAlgn="base" hangingPunct="0">
              <a:spcBef>
                <a:spcPct val="0"/>
              </a:spcBef>
              <a:spcAft>
                <a:spcPct val="0"/>
              </a:spcAft>
              <a:buFontTx/>
              <a:buChar char="•"/>
            </a:pPr>
            <a:r>
              <a:rPr lang="en-US" altLang="en-US" sz="900" b="1" dirty="0">
                <a:solidFill>
                  <a:srgbClr val="1F1F1F"/>
                </a:solidFill>
                <a:latin typeface="Times New Roman" panose="02020603050405020304" pitchFamily="18" charset="0"/>
                <a:cs typeface="Times New Roman" panose="02020603050405020304" pitchFamily="18" charset="0"/>
              </a:rPr>
              <a:t>Recall:</a:t>
            </a:r>
            <a:endParaRPr lang="en-US" altLang="en-US" sz="900" dirty="0">
              <a:solidFill>
                <a:srgbClr val="1F1F1F"/>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lang="en-US" altLang="en-US" sz="900" dirty="0">
                <a:solidFill>
                  <a:srgbClr val="1F1F1F"/>
                </a:solidFill>
                <a:latin typeface="Times New Roman" panose="02020603050405020304" pitchFamily="18" charset="0"/>
                <a:cs typeface="Times New Roman" panose="02020603050405020304" pitchFamily="18" charset="0"/>
              </a:rPr>
              <a:t>Negative: 0.76 (Out of all actual negative reviews, 76% were correctly predicted)</a:t>
            </a:r>
          </a:p>
          <a:p>
            <a:pPr lvl="1" eaLnBrk="0" fontAlgn="base" hangingPunct="0">
              <a:spcBef>
                <a:spcPct val="0"/>
              </a:spcBef>
              <a:spcAft>
                <a:spcPct val="0"/>
              </a:spcAft>
              <a:buFontTx/>
              <a:buChar char="•"/>
            </a:pPr>
            <a:r>
              <a:rPr lang="en-US" altLang="en-US" sz="900" dirty="0">
                <a:solidFill>
                  <a:srgbClr val="1F1F1F"/>
                </a:solidFill>
                <a:latin typeface="Times New Roman" panose="02020603050405020304" pitchFamily="18" charset="0"/>
                <a:cs typeface="Times New Roman" panose="02020603050405020304" pitchFamily="18" charset="0"/>
              </a:rPr>
              <a:t>Neutral: 0.63 (Out of all actual neutral reviews, 63% were correctly predicted)</a:t>
            </a:r>
          </a:p>
          <a:p>
            <a:pPr lvl="1" eaLnBrk="0" fontAlgn="base" hangingPunct="0">
              <a:spcBef>
                <a:spcPct val="0"/>
              </a:spcBef>
              <a:spcAft>
                <a:spcPct val="0"/>
              </a:spcAft>
              <a:buFontTx/>
              <a:buChar char="•"/>
            </a:pPr>
            <a:r>
              <a:rPr lang="en-US" altLang="en-US" sz="900" dirty="0">
                <a:solidFill>
                  <a:srgbClr val="1F1F1F"/>
                </a:solidFill>
                <a:latin typeface="Times New Roman" panose="02020603050405020304" pitchFamily="18" charset="0"/>
                <a:cs typeface="Times New Roman" panose="02020603050405020304" pitchFamily="18" charset="0"/>
              </a:rPr>
              <a:t>Positive: 0.71 (Out of all actual positive reviews, 71% were correctly predicted)</a:t>
            </a:r>
          </a:p>
          <a:p>
            <a:pPr lvl="0" eaLnBrk="0" fontAlgn="base" hangingPunct="0">
              <a:spcBef>
                <a:spcPct val="0"/>
              </a:spcBef>
              <a:spcAft>
                <a:spcPct val="0"/>
              </a:spcAft>
              <a:buFontTx/>
              <a:buChar char="•"/>
            </a:pPr>
            <a:r>
              <a:rPr lang="en-US" altLang="en-US" sz="900" b="1" dirty="0">
                <a:solidFill>
                  <a:srgbClr val="1F1F1F"/>
                </a:solidFill>
                <a:latin typeface="Times New Roman" panose="02020603050405020304" pitchFamily="18" charset="0"/>
                <a:cs typeface="Times New Roman" panose="02020603050405020304" pitchFamily="18" charset="0"/>
              </a:rPr>
              <a:t>F1-score:</a:t>
            </a:r>
            <a:endParaRPr lang="en-US" altLang="en-US" sz="900" dirty="0">
              <a:solidFill>
                <a:srgbClr val="1F1F1F"/>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lang="en-US" altLang="en-US" sz="900" dirty="0">
                <a:solidFill>
                  <a:srgbClr val="1F1F1F"/>
                </a:solidFill>
                <a:latin typeface="Times New Roman" panose="02020603050405020304" pitchFamily="18" charset="0"/>
                <a:cs typeface="Times New Roman" panose="02020603050405020304" pitchFamily="18" charset="0"/>
              </a:rPr>
              <a:t>Negative: 0.73 (Harmonic mean of precision and recall for negative reviews)</a:t>
            </a:r>
          </a:p>
          <a:p>
            <a:pPr lvl="1" eaLnBrk="0" fontAlgn="base" hangingPunct="0">
              <a:spcBef>
                <a:spcPct val="0"/>
              </a:spcBef>
              <a:spcAft>
                <a:spcPct val="0"/>
              </a:spcAft>
              <a:buFontTx/>
              <a:buChar char="•"/>
            </a:pPr>
            <a:r>
              <a:rPr lang="en-US" altLang="en-US" sz="900" dirty="0">
                <a:solidFill>
                  <a:srgbClr val="1F1F1F"/>
                </a:solidFill>
                <a:latin typeface="Times New Roman" panose="02020603050405020304" pitchFamily="18" charset="0"/>
                <a:cs typeface="Times New Roman" panose="02020603050405020304" pitchFamily="18" charset="0"/>
              </a:rPr>
              <a:t>Neutral: 0.62 (Harmonic mean of precision and recall for neutral reviews)</a:t>
            </a:r>
          </a:p>
          <a:p>
            <a:pPr lvl="1" eaLnBrk="0" fontAlgn="base" hangingPunct="0">
              <a:spcBef>
                <a:spcPct val="0"/>
              </a:spcBef>
              <a:spcAft>
                <a:spcPct val="0"/>
              </a:spcAft>
              <a:buFontTx/>
              <a:buChar char="•"/>
            </a:pPr>
            <a:r>
              <a:rPr lang="en-US" altLang="en-US" sz="900" dirty="0">
                <a:solidFill>
                  <a:srgbClr val="1F1F1F"/>
                </a:solidFill>
                <a:latin typeface="Times New Roman" panose="02020603050405020304" pitchFamily="18" charset="0"/>
                <a:cs typeface="Times New Roman" panose="02020603050405020304" pitchFamily="18" charset="0"/>
              </a:rPr>
              <a:t>Positive: 0.76 (Harmonic mean of precision and recall for positive reviews)</a:t>
            </a:r>
          </a:p>
          <a:p>
            <a:pPr lvl="0" eaLnBrk="0" fontAlgn="base" hangingPunct="0">
              <a:spcBef>
                <a:spcPct val="0"/>
              </a:spcBef>
              <a:spcAft>
                <a:spcPct val="0"/>
              </a:spcAft>
              <a:buFontTx/>
              <a:buChar char="•"/>
            </a:pPr>
            <a:r>
              <a:rPr lang="en-US" altLang="en-US" sz="900" b="1" dirty="0">
                <a:solidFill>
                  <a:srgbClr val="1F1F1F"/>
                </a:solidFill>
                <a:latin typeface="Times New Roman" panose="02020603050405020304" pitchFamily="18" charset="0"/>
                <a:cs typeface="Times New Roman" panose="02020603050405020304" pitchFamily="18" charset="0"/>
              </a:rPr>
              <a:t>Accuracy:</a:t>
            </a:r>
            <a:r>
              <a:rPr lang="en-US" altLang="en-US" sz="900" dirty="0">
                <a:solidFill>
                  <a:srgbClr val="1F1F1F"/>
                </a:solidFill>
                <a:latin typeface="Times New Roman" panose="02020603050405020304" pitchFamily="18" charset="0"/>
                <a:cs typeface="Times New Roman" panose="02020603050405020304" pitchFamily="18" charset="0"/>
              </a:rPr>
              <a:t> 0.70 (Overall correctness of predictions, 70% of reviews were classified correctly)</a:t>
            </a:r>
          </a:p>
          <a:p>
            <a:pPr lvl="0" eaLnBrk="0" fontAlgn="base" hangingPunct="0">
              <a:spcBef>
                <a:spcPct val="0"/>
              </a:spcBef>
              <a:spcAft>
                <a:spcPct val="0"/>
              </a:spcAft>
              <a:buFontTx/>
              <a:buChar char="•"/>
            </a:pPr>
            <a:r>
              <a:rPr lang="en-US" altLang="en-US" sz="900" b="1" dirty="0">
                <a:solidFill>
                  <a:srgbClr val="1F1F1F"/>
                </a:solidFill>
                <a:latin typeface="Times New Roman" panose="02020603050405020304" pitchFamily="18" charset="0"/>
                <a:cs typeface="Times New Roman" panose="02020603050405020304" pitchFamily="18" charset="0"/>
              </a:rPr>
              <a:t>Macro </a:t>
            </a:r>
            <a:r>
              <a:rPr lang="en-US" altLang="en-US" sz="900" b="1" dirty="0" err="1">
                <a:solidFill>
                  <a:srgbClr val="1F1F1F"/>
                </a:solidFill>
                <a:latin typeface="Times New Roman" panose="02020603050405020304" pitchFamily="18" charset="0"/>
                <a:cs typeface="Times New Roman" panose="02020603050405020304" pitchFamily="18" charset="0"/>
              </a:rPr>
              <a:t>avg</a:t>
            </a:r>
            <a:r>
              <a:rPr lang="en-US" altLang="en-US" sz="900" b="1" dirty="0">
                <a:solidFill>
                  <a:srgbClr val="1F1F1F"/>
                </a:solidFill>
                <a:latin typeface="Times New Roman" panose="02020603050405020304" pitchFamily="18" charset="0"/>
                <a:cs typeface="Times New Roman" panose="02020603050405020304" pitchFamily="18" charset="0"/>
              </a:rPr>
              <a:t>:</a:t>
            </a:r>
            <a:r>
              <a:rPr lang="en-US" altLang="en-US" sz="900" dirty="0">
                <a:solidFill>
                  <a:srgbClr val="1F1F1F"/>
                </a:solidFill>
                <a:latin typeface="Times New Roman" panose="02020603050405020304" pitchFamily="18" charset="0"/>
                <a:cs typeface="Times New Roman" panose="02020603050405020304" pitchFamily="18" charset="0"/>
              </a:rPr>
              <a:t> 0.70 (Average precision, recall, and F1-score across all classes)</a:t>
            </a:r>
          </a:p>
          <a:p>
            <a:pPr lvl="0" eaLnBrk="0" fontAlgn="base" hangingPunct="0">
              <a:spcBef>
                <a:spcPct val="0"/>
              </a:spcBef>
              <a:spcAft>
                <a:spcPct val="0"/>
              </a:spcAft>
              <a:buFontTx/>
              <a:buChar char="•"/>
            </a:pPr>
            <a:r>
              <a:rPr lang="en-US" altLang="en-US" sz="900" b="1" dirty="0">
                <a:solidFill>
                  <a:srgbClr val="1F1F1F"/>
                </a:solidFill>
                <a:latin typeface="Times New Roman" panose="02020603050405020304" pitchFamily="18" charset="0"/>
                <a:cs typeface="Times New Roman" panose="02020603050405020304" pitchFamily="18" charset="0"/>
              </a:rPr>
              <a:t>Weighted </a:t>
            </a:r>
            <a:r>
              <a:rPr lang="en-US" altLang="en-US" sz="900" b="1" dirty="0" err="1">
                <a:solidFill>
                  <a:srgbClr val="1F1F1F"/>
                </a:solidFill>
                <a:latin typeface="Times New Roman" panose="02020603050405020304" pitchFamily="18" charset="0"/>
                <a:cs typeface="Times New Roman" panose="02020603050405020304" pitchFamily="18" charset="0"/>
              </a:rPr>
              <a:t>avg</a:t>
            </a:r>
            <a:r>
              <a:rPr lang="en-US" altLang="en-US" sz="900" b="1" dirty="0">
                <a:solidFill>
                  <a:srgbClr val="1F1F1F"/>
                </a:solidFill>
                <a:latin typeface="Times New Roman" panose="02020603050405020304" pitchFamily="18" charset="0"/>
                <a:cs typeface="Times New Roman" panose="02020603050405020304" pitchFamily="18" charset="0"/>
              </a:rPr>
              <a:t>:</a:t>
            </a:r>
            <a:r>
              <a:rPr lang="en-US" altLang="en-US" sz="900" dirty="0">
                <a:solidFill>
                  <a:srgbClr val="1F1F1F"/>
                </a:solidFill>
                <a:latin typeface="Times New Roman" panose="02020603050405020304" pitchFamily="18" charset="0"/>
                <a:cs typeface="Times New Roman" panose="02020603050405020304" pitchFamily="18" charset="0"/>
              </a:rPr>
              <a:t> 0.71 (Weighted average of precision, recall, and F1-score, considering class imbalance)</a:t>
            </a:r>
          </a:p>
          <a:p>
            <a:pPr lvl="0" eaLnBrk="0" fontAlgn="base" hangingPunct="0">
              <a:spcBef>
                <a:spcPct val="0"/>
              </a:spcBef>
              <a:spcAft>
                <a:spcPct val="0"/>
              </a:spcAft>
            </a:pPr>
            <a:endParaRPr lang="en-US" altLang="en-US" sz="900" dirty="0">
              <a:latin typeface="Times New Roman" panose="02020603050405020304" pitchFamily="18" charset="0"/>
              <a:cs typeface="Times New Roman" panose="02020603050405020304" pitchFamily="18" charset="0"/>
            </a:endParaRPr>
          </a:p>
          <a:p>
            <a:endParaRPr lang="en-IN" sz="9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8762996" y="1926078"/>
            <a:ext cx="3356043" cy="452431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900" b="1" dirty="0">
                <a:latin typeface="Times New Roman" panose="02020603050405020304" pitchFamily="18" charset="0"/>
                <a:cs typeface="Times New Roman" panose="02020603050405020304" pitchFamily="18" charset="0"/>
              </a:rPr>
              <a:t>Interpretation:</a:t>
            </a:r>
            <a:endParaRPr lang="en-US" sz="900" dirty="0">
              <a:latin typeface="Times New Roman" panose="02020603050405020304" pitchFamily="18" charset="0"/>
              <a:cs typeface="Times New Roman" panose="02020603050405020304" pitchFamily="18" charset="0"/>
            </a:endParaRPr>
          </a:p>
          <a:p>
            <a:r>
              <a:rPr lang="en-US" sz="900" b="1" dirty="0">
                <a:latin typeface="Times New Roman" panose="02020603050405020304" pitchFamily="18" charset="0"/>
                <a:cs typeface="Times New Roman" panose="02020603050405020304" pitchFamily="18" charset="0"/>
              </a:rPr>
              <a:t>Overall Performance:</a:t>
            </a:r>
            <a:r>
              <a:rPr lang="en-US" sz="900" dirty="0">
                <a:latin typeface="Times New Roman" panose="02020603050405020304" pitchFamily="18" charset="0"/>
                <a:cs typeface="Times New Roman" panose="02020603050405020304" pitchFamily="18" charset="0"/>
              </a:rPr>
              <a:t> The model achieves an accuracy of 70%, indicating a reasonable ability to classify sentiment. The weighted average F1-score is also around 0.70, suggesting a balanced performance across classes.</a:t>
            </a:r>
          </a:p>
          <a:p>
            <a:r>
              <a:rPr lang="en-US" sz="900" b="1" dirty="0">
                <a:latin typeface="Times New Roman" panose="02020603050405020304" pitchFamily="18" charset="0"/>
                <a:cs typeface="Times New Roman" panose="02020603050405020304" pitchFamily="18" charset="0"/>
              </a:rPr>
              <a:t>Class-wise Performance:</a:t>
            </a:r>
            <a:r>
              <a:rPr lang="en-US" sz="900" dirty="0">
                <a:latin typeface="Times New Roman" panose="02020603050405020304" pitchFamily="18" charset="0"/>
                <a:cs typeface="Times New Roman" panose="02020603050405020304" pitchFamily="18" charset="0"/>
              </a:rPr>
              <a:t> The model performs best at predicting positive sentiment (precision of 0.81 and recall of 0.71), while the performance on neutral reviews is comparatively lower (precision of 0.60 and recall of 0.63).</a:t>
            </a:r>
          </a:p>
          <a:p>
            <a:r>
              <a:rPr lang="en-US" sz="900" b="1" dirty="0">
                <a:latin typeface="Times New Roman" panose="02020603050405020304" pitchFamily="18" charset="0"/>
                <a:cs typeface="Times New Roman" panose="02020603050405020304" pitchFamily="18" charset="0"/>
              </a:rPr>
              <a:t>Confusion Matrix Insights:</a:t>
            </a:r>
            <a:r>
              <a:rPr lang="en-US" sz="900" dirty="0">
                <a:latin typeface="Times New Roman" panose="02020603050405020304" pitchFamily="18" charset="0"/>
                <a:cs typeface="Times New Roman" panose="02020603050405020304" pitchFamily="18" charset="0"/>
              </a:rPr>
              <a:t> The confusion matrix reveals specific types of errors:</a:t>
            </a:r>
          </a:p>
          <a:p>
            <a:pPr lvl="1"/>
            <a:r>
              <a:rPr lang="en-US" sz="900" dirty="0">
                <a:latin typeface="Times New Roman" panose="02020603050405020304" pitchFamily="18" charset="0"/>
                <a:cs typeface="Times New Roman" panose="02020603050405020304" pitchFamily="18" charset="0"/>
              </a:rPr>
              <a:t>Negative reviews are sometimes misclassified as neutral (157 instances).</a:t>
            </a:r>
          </a:p>
          <a:p>
            <a:pPr lvl="1"/>
            <a:r>
              <a:rPr lang="en-US" sz="900" dirty="0">
                <a:latin typeface="Times New Roman" panose="02020603050405020304" pitchFamily="18" charset="0"/>
                <a:cs typeface="Times New Roman" panose="02020603050405020304" pitchFamily="18" charset="0"/>
              </a:rPr>
              <a:t>Neutral reviews are misclassified as both negative (167 instances) and positive (104 instances).</a:t>
            </a:r>
          </a:p>
          <a:p>
            <a:pPr lvl="1"/>
            <a:r>
              <a:rPr lang="en-US" sz="900" dirty="0">
                <a:latin typeface="Times New Roman" panose="02020603050405020304" pitchFamily="18" charset="0"/>
                <a:cs typeface="Times New Roman" panose="02020603050405020304" pitchFamily="18" charset="0"/>
              </a:rPr>
              <a:t>Positive reviews are sometimes misclassified as neutral (150 instances).</a:t>
            </a:r>
          </a:p>
          <a:p>
            <a:r>
              <a:rPr lang="en-US" sz="900" b="1" dirty="0">
                <a:latin typeface="Times New Roman" panose="02020603050405020304" pitchFamily="18" charset="0"/>
                <a:cs typeface="Times New Roman" panose="02020603050405020304" pitchFamily="18" charset="0"/>
              </a:rPr>
              <a:t>SMOTE and </a:t>
            </a:r>
            <a:r>
              <a:rPr lang="en-US" sz="900" b="1" dirty="0" err="1">
                <a:latin typeface="Times New Roman" panose="02020603050405020304" pitchFamily="18" charset="0"/>
                <a:cs typeface="Times New Roman" panose="02020603050405020304" pitchFamily="18" charset="0"/>
              </a:rPr>
              <a:t>Hyperparameter</a:t>
            </a:r>
            <a:r>
              <a:rPr lang="en-US" sz="900" b="1" dirty="0">
                <a:latin typeface="Times New Roman" panose="02020603050405020304" pitchFamily="18" charset="0"/>
                <a:cs typeface="Times New Roman" panose="02020603050405020304" pitchFamily="18" charset="0"/>
              </a:rPr>
              <a:t> Tuning:</a:t>
            </a:r>
            <a:r>
              <a:rPr lang="en-US" sz="900" dirty="0">
                <a:latin typeface="Times New Roman" panose="02020603050405020304" pitchFamily="18" charset="0"/>
                <a:cs typeface="Times New Roman" panose="02020603050405020304" pitchFamily="18" charset="0"/>
              </a:rPr>
              <a:t> Applying SMOTE and </a:t>
            </a:r>
            <a:r>
              <a:rPr lang="en-US" sz="900" dirty="0" err="1">
                <a:latin typeface="Times New Roman" panose="02020603050405020304" pitchFamily="18" charset="0"/>
                <a:cs typeface="Times New Roman" panose="02020603050405020304" pitchFamily="18" charset="0"/>
              </a:rPr>
              <a:t>hyperparameter</a:t>
            </a:r>
            <a:r>
              <a:rPr lang="en-US" sz="900" dirty="0">
                <a:latin typeface="Times New Roman" panose="02020603050405020304" pitchFamily="18" charset="0"/>
                <a:cs typeface="Times New Roman" panose="02020603050405020304" pitchFamily="18" charset="0"/>
              </a:rPr>
              <a:t> tuning has likely improved the model's ability to handle class imbalance and achieve a more balanced performance across classes.</a:t>
            </a:r>
          </a:p>
          <a:p>
            <a:r>
              <a:rPr lang="en-US" sz="900" b="1" dirty="0">
                <a:latin typeface="Times New Roman" panose="02020603050405020304" pitchFamily="18" charset="0"/>
                <a:cs typeface="Times New Roman" panose="02020603050405020304" pitchFamily="18" charset="0"/>
              </a:rPr>
              <a:t>Further Considerations:</a:t>
            </a:r>
            <a:endParaRPr lang="en-US" sz="900" dirty="0">
              <a:latin typeface="Times New Roman" panose="02020603050405020304" pitchFamily="18" charset="0"/>
              <a:cs typeface="Times New Roman" panose="02020603050405020304" pitchFamily="18" charset="0"/>
            </a:endParaRPr>
          </a:p>
          <a:p>
            <a:r>
              <a:rPr lang="en-US" sz="900" b="1" dirty="0">
                <a:latin typeface="Times New Roman" panose="02020603050405020304" pitchFamily="18" charset="0"/>
                <a:cs typeface="Times New Roman" panose="02020603050405020304" pitchFamily="18" charset="0"/>
              </a:rPr>
              <a:t>Error Analysis:</a:t>
            </a:r>
            <a:r>
              <a:rPr lang="en-US" sz="900" dirty="0">
                <a:latin typeface="Times New Roman" panose="02020603050405020304" pitchFamily="18" charset="0"/>
                <a:cs typeface="Times New Roman" panose="02020603050405020304" pitchFamily="18" charset="0"/>
              </a:rPr>
              <a:t> Analyze the misclassified examples to understand the patterns and potential reasons for errors. This can guide further improvements to your model or data preprocessing.</a:t>
            </a:r>
          </a:p>
          <a:p>
            <a:r>
              <a:rPr lang="en-US" sz="900" b="1" dirty="0">
                <a:latin typeface="Times New Roman" panose="02020603050405020304" pitchFamily="18" charset="0"/>
                <a:cs typeface="Times New Roman" panose="02020603050405020304" pitchFamily="18" charset="0"/>
              </a:rPr>
              <a:t>Alternative Models:</a:t>
            </a:r>
            <a:r>
              <a:rPr lang="en-US" sz="900" dirty="0">
                <a:latin typeface="Times New Roman" panose="02020603050405020304" pitchFamily="18" charset="0"/>
                <a:cs typeface="Times New Roman" panose="02020603050405020304" pitchFamily="18" charset="0"/>
              </a:rPr>
              <a:t> Explore other models like Support Vector Machines (SVM) or Random Forests, which might be more robust to class imbalance or handle text data better</a:t>
            </a:r>
            <a:r>
              <a:rPr lang="en-US" sz="900" dirty="0" smtClean="0">
                <a:latin typeface="Times New Roman" panose="02020603050405020304" pitchFamily="18" charset="0"/>
                <a:cs typeface="Times New Roman" panose="02020603050405020304" pitchFamily="18" charset="0"/>
              </a:rPr>
              <a:t>.</a:t>
            </a:r>
          </a:p>
          <a:p>
            <a:r>
              <a:rPr lang="en-US" sz="900" b="1" dirty="0">
                <a:latin typeface="Times New Roman" panose="02020603050405020304" pitchFamily="18" charset="0"/>
                <a:cs typeface="Times New Roman" panose="02020603050405020304" pitchFamily="18" charset="0"/>
              </a:rPr>
              <a:t>Feature Engineering:</a:t>
            </a:r>
            <a:r>
              <a:rPr lang="en-US" sz="900" dirty="0">
                <a:latin typeface="Times New Roman" panose="02020603050405020304" pitchFamily="18" charset="0"/>
                <a:cs typeface="Times New Roman" panose="02020603050405020304" pitchFamily="18" charset="0"/>
              </a:rPr>
              <a:t> Consider adding new features or refining existing ones to improve model performance.</a:t>
            </a:r>
          </a:p>
          <a:p>
            <a:endParaRPr lang="en-US" sz="900" dirty="0">
              <a:latin typeface="Times New Roman" panose="02020603050405020304" pitchFamily="18" charset="0"/>
              <a:cs typeface="Times New Roman" panose="02020603050405020304" pitchFamily="18" charset="0"/>
            </a:endParaRPr>
          </a:p>
          <a:p>
            <a:endParaRPr lang="en-IN" sz="900"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9358008" y="1174735"/>
            <a:ext cx="1977957"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hlinkClick r:id="rId3" action="ppaction://hlinksldjump"/>
              </a:rPr>
              <a:t>Master Side Link</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34897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6350" y="43716"/>
            <a:ext cx="5897736" cy="453480"/>
          </a:xfrm>
        </p:spPr>
        <p:style>
          <a:lnRef idx="2">
            <a:schemeClr val="accent1"/>
          </a:lnRef>
          <a:fillRef idx="1">
            <a:schemeClr val="lt1"/>
          </a:fillRef>
          <a:effectRef idx="0">
            <a:schemeClr val="accent1"/>
          </a:effectRef>
          <a:fontRef idx="minor">
            <a:schemeClr val="dk1"/>
          </a:fontRef>
        </p:style>
        <p:txBody>
          <a:bodyPr>
            <a:noAutofit/>
          </a:bodyPr>
          <a:lstStyle/>
          <a:p>
            <a:r>
              <a:rPr lang="en-IN" sz="1400" b="1" dirty="0" smtClean="0">
                <a:latin typeface="Times New Roman" panose="02020603050405020304" pitchFamily="18" charset="0"/>
                <a:cs typeface="Times New Roman" panose="02020603050405020304" pitchFamily="18" charset="0"/>
              </a:rPr>
              <a:t>Ensemble Technique- </a:t>
            </a:r>
            <a:r>
              <a:rPr lang="en-IN" sz="1400" b="1" dirty="0" err="1" smtClean="0">
                <a:latin typeface="Times New Roman" panose="02020603050405020304" pitchFamily="18" charset="0"/>
                <a:cs typeface="Times New Roman" panose="02020603050405020304" pitchFamily="18" charset="0"/>
              </a:rPr>
              <a:t>XGBoost</a:t>
            </a:r>
            <a:r>
              <a:rPr lang="en-IN" sz="1400" b="1" dirty="0" smtClean="0">
                <a:latin typeface="Times New Roman" panose="02020603050405020304" pitchFamily="18" charset="0"/>
                <a:cs typeface="Times New Roman" panose="02020603050405020304" pitchFamily="18" charset="0"/>
              </a:rPr>
              <a:t>, Multi-Class </a:t>
            </a:r>
            <a:r>
              <a:rPr lang="en-IN" sz="1400" b="1" dirty="0">
                <a:latin typeface="Times New Roman" panose="02020603050405020304" pitchFamily="18" charset="0"/>
                <a:cs typeface="Times New Roman" panose="02020603050405020304" pitchFamily="18" charset="0"/>
              </a:rPr>
              <a:t>SVM and </a:t>
            </a:r>
            <a:r>
              <a:rPr lang="en-IN" sz="1400" b="1" dirty="0" smtClean="0">
                <a:latin typeface="Times New Roman" panose="02020603050405020304" pitchFamily="18" charset="0"/>
                <a:cs typeface="Times New Roman" panose="02020603050405020304" pitchFamily="18" charset="0"/>
              </a:rPr>
              <a:t>Random Forest</a:t>
            </a:r>
            <a:endParaRPr lang="en-IN" sz="14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98612" y="591704"/>
            <a:ext cx="3867150" cy="24086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p:cNvSpPr txBox="1"/>
          <p:nvPr/>
        </p:nvSpPr>
        <p:spPr>
          <a:xfrm>
            <a:off x="0" y="3052079"/>
            <a:ext cx="3290047" cy="363176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000" b="1" dirty="0">
                <a:latin typeface="Times New Roman" panose="02020603050405020304" pitchFamily="18" charset="0"/>
                <a:cs typeface="Times New Roman" panose="02020603050405020304" pitchFamily="18" charset="0"/>
              </a:rPr>
              <a:t>SVM Performance</a:t>
            </a:r>
            <a:endParaRPr lang="en-US" sz="1000" dirty="0">
              <a:latin typeface="Times New Roman" panose="02020603050405020304" pitchFamily="18" charset="0"/>
              <a:cs typeface="Times New Roman" panose="02020603050405020304" pitchFamily="18" charset="0"/>
            </a:endParaRPr>
          </a:p>
          <a:p>
            <a:r>
              <a:rPr lang="en-US" sz="1000" b="1" dirty="0">
                <a:latin typeface="Times New Roman" panose="02020603050405020304" pitchFamily="18" charset="0"/>
                <a:cs typeface="Times New Roman" panose="02020603050405020304" pitchFamily="18" charset="0"/>
              </a:rPr>
              <a:t>Classification Report:</a:t>
            </a:r>
            <a:endParaRPr lang="en-US" sz="1000" dirty="0">
              <a:latin typeface="Times New Roman" panose="02020603050405020304" pitchFamily="18" charset="0"/>
              <a:cs typeface="Times New Roman" panose="02020603050405020304" pitchFamily="18" charset="0"/>
            </a:endParaRPr>
          </a:p>
          <a:p>
            <a:r>
              <a:rPr lang="en-US" sz="1000" b="1" dirty="0">
                <a:latin typeface="Times New Roman" panose="02020603050405020304" pitchFamily="18" charset="0"/>
                <a:cs typeface="Times New Roman" panose="02020603050405020304" pitchFamily="18" charset="0"/>
              </a:rPr>
              <a:t>Precision:</a:t>
            </a:r>
            <a:endParaRPr lang="en-US" sz="1000" dirty="0">
              <a:latin typeface="Times New Roman" panose="02020603050405020304" pitchFamily="18" charset="0"/>
              <a:cs typeface="Times New Roman" panose="02020603050405020304" pitchFamily="18" charset="0"/>
            </a:endParaRPr>
          </a:p>
          <a:p>
            <a:pPr lvl="1"/>
            <a:r>
              <a:rPr lang="en-US" sz="1000" dirty="0">
                <a:latin typeface="Times New Roman" panose="02020603050405020304" pitchFamily="18" charset="0"/>
                <a:cs typeface="Times New Roman" panose="02020603050405020304" pitchFamily="18" charset="0"/>
              </a:rPr>
              <a:t>Negative: 0.11 (11% of predicted negative reviews were actually negative)</a:t>
            </a:r>
          </a:p>
          <a:p>
            <a:pPr lvl="1"/>
            <a:r>
              <a:rPr lang="en-US" sz="1000" dirty="0">
                <a:latin typeface="Times New Roman" panose="02020603050405020304" pitchFamily="18" charset="0"/>
                <a:cs typeface="Times New Roman" panose="02020603050405020304" pitchFamily="18" charset="0"/>
              </a:rPr>
              <a:t>Neutral: 0.24 (24% of predicted neutral reviews were actually neutral)</a:t>
            </a:r>
          </a:p>
          <a:p>
            <a:pPr lvl="1"/>
            <a:r>
              <a:rPr lang="en-US" sz="1000" dirty="0">
                <a:latin typeface="Times New Roman" panose="02020603050405020304" pitchFamily="18" charset="0"/>
                <a:cs typeface="Times New Roman" panose="02020603050405020304" pitchFamily="18" charset="0"/>
              </a:rPr>
              <a:t>Positive: 0.97 (97% of predicted positive reviews were actually positive)</a:t>
            </a:r>
          </a:p>
          <a:p>
            <a:r>
              <a:rPr lang="en-US" sz="1000" b="1" dirty="0">
                <a:latin typeface="Times New Roman" panose="02020603050405020304" pitchFamily="18" charset="0"/>
                <a:cs typeface="Times New Roman" panose="02020603050405020304" pitchFamily="18" charset="0"/>
              </a:rPr>
              <a:t>Recall:</a:t>
            </a:r>
            <a:endParaRPr lang="en-US" sz="1000" dirty="0">
              <a:latin typeface="Times New Roman" panose="02020603050405020304" pitchFamily="18" charset="0"/>
              <a:cs typeface="Times New Roman" panose="02020603050405020304" pitchFamily="18" charset="0"/>
            </a:endParaRPr>
          </a:p>
          <a:p>
            <a:pPr lvl="1"/>
            <a:r>
              <a:rPr lang="en-US" sz="1000" dirty="0">
                <a:latin typeface="Times New Roman" panose="02020603050405020304" pitchFamily="18" charset="0"/>
                <a:cs typeface="Times New Roman" panose="02020603050405020304" pitchFamily="18" charset="0"/>
              </a:rPr>
              <a:t>Negative: 0.85 (85% of actual negative reviews were correctly predicted)</a:t>
            </a:r>
          </a:p>
          <a:p>
            <a:pPr lvl="1"/>
            <a:r>
              <a:rPr lang="en-US" sz="1000" dirty="0">
                <a:latin typeface="Times New Roman" panose="02020603050405020304" pitchFamily="18" charset="0"/>
                <a:cs typeface="Times New Roman" panose="02020603050405020304" pitchFamily="18" charset="0"/>
              </a:rPr>
              <a:t>Neutral: 0.28 (28% of actual neutral reviews were correctly predicted)</a:t>
            </a:r>
          </a:p>
          <a:p>
            <a:pPr lvl="1"/>
            <a:r>
              <a:rPr lang="en-US" sz="1000" dirty="0">
                <a:latin typeface="Times New Roman" panose="02020603050405020304" pitchFamily="18" charset="0"/>
                <a:cs typeface="Times New Roman" panose="02020603050405020304" pitchFamily="18" charset="0"/>
              </a:rPr>
              <a:t>Positive: 0.85 (85% of actual positive reviews were correctly predicted)</a:t>
            </a:r>
          </a:p>
          <a:p>
            <a:r>
              <a:rPr lang="en-US" sz="1000" b="1" dirty="0">
                <a:latin typeface="Times New Roman" panose="02020603050405020304" pitchFamily="18" charset="0"/>
                <a:cs typeface="Times New Roman" panose="02020603050405020304" pitchFamily="18" charset="0"/>
              </a:rPr>
              <a:t>F1-score:</a:t>
            </a:r>
            <a:endParaRPr lang="en-US" sz="1000" dirty="0">
              <a:latin typeface="Times New Roman" panose="02020603050405020304" pitchFamily="18" charset="0"/>
              <a:cs typeface="Times New Roman" panose="02020603050405020304" pitchFamily="18" charset="0"/>
            </a:endParaRPr>
          </a:p>
          <a:p>
            <a:pPr lvl="1"/>
            <a:r>
              <a:rPr lang="en-US" sz="1000" dirty="0">
                <a:latin typeface="Times New Roman" panose="02020603050405020304" pitchFamily="18" charset="0"/>
                <a:cs typeface="Times New Roman" panose="02020603050405020304" pitchFamily="18" charset="0"/>
              </a:rPr>
              <a:t>Negative: 0.20 (Harmonic mean of precision and recall for negative class)</a:t>
            </a:r>
          </a:p>
          <a:p>
            <a:pPr lvl="1"/>
            <a:r>
              <a:rPr lang="en-US" sz="1000" dirty="0">
                <a:latin typeface="Times New Roman" panose="02020603050405020304" pitchFamily="18" charset="0"/>
                <a:cs typeface="Times New Roman" panose="02020603050405020304" pitchFamily="18" charset="0"/>
              </a:rPr>
              <a:t>Neutral: 0.26</a:t>
            </a:r>
          </a:p>
          <a:p>
            <a:pPr lvl="1"/>
            <a:r>
              <a:rPr lang="en-US" sz="1000" dirty="0">
                <a:latin typeface="Times New Roman" panose="02020603050405020304" pitchFamily="18" charset="0"/>
                <a:cs typeface="Times New Roman" panose="02020603050405020304" pitchFamily="18" charset="0"/>
              </a:rPr>
              <a:t>Positive: 0.91</a:t>
            </a:r>
          </a:p>
          <a:p>
            <a:r>
              <a:rPr lang="en-US" sz="1000" b="1" dirty="0">
                <a:latin typeface="Times New Roman" panose="02020603050405020304" pitchFamily="18" charset="0"/>
                <a:cs typeface="Times New Roman" panose="02020603050405020304" pitchFamily="18" charset="0"/>
              </a:rPr>
              <a:t>Accuracy:</a:t>
            </a:r>
            <a:r>
              <a:rPr lang="en-US" sz="1000" dirty="0">
                <a:latin typeface="Times New Roman" panose="02020603050405020304" pitchFamily="18" charset="0"/>
                <a:cs typeface="Times New Roman" panose="02020603050405020304" pitchFamily="18" charset="0"/>
              </a:rPr>
              <a:t> 0.83 (Overall accuracy of the model)</a:t>
            </a:r>
          </a:p>
          <a:p>
            <a:endParaRPr lang="en-IN" sz="10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3290047" y="3052079"/>
            <a:ext cx="2626659" cy="363176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11 true negatives, 2 false positives (predicted as neutral), 0 false positives (predicted as positive)</a:t>
            </a:r>
          </a:p>
          <a:p>
            <a:r>
              <a:rPr lang="en-US" sz="1000" dirty="0">
                <a:latin typeface="Times New Roman" panose="02020603050405020304" pitchFamily="18" charset="0"/>
                <a:cs typeface="Times New Roman" panose="02020603050405020304" pitchFamily="18" charset="0"/>
              </a:rPr>
              <a:t>8 false negatives (predicted as negative), 10 true neutrals, 18 false positives (predicted as positive)</a:t>
            </a:r>
          </a:p>
          <a:p>
            <a:r>
              <a:rPr lang="en-US" sz="1000" dirty="0">
                <a:latin typeface="Times New Roman" panose="02020603050405020304" pitchFamily="18" charset="0"/>
                <a:cs typeface="Times New Roman" panose="02020603050405020304" pitchFamily="18" charset="0"/>
              </a:rPr>
              <a:t>80 false negatives (predicted as negative), 30 false negatives (predicted as neutral), 641 true positives</a:t>
            </a:r>
          </a:p>
          <a:p>
            <a:r>
              <a:rPr lang="en-US" sz="1000" b="1" dirty="0">
                <a:latin typeface="Times New Roman" panose="02020603050405020304" pitchFamily="18" charset="0"/>
                <a:cs typeface="Times New Roman" panose="02020603050405020304" pitchFamily="18" charset="0"/>
              </a:rPr>
              <a:t>Interpretation:</a:t>
            </a:r>
            <a:endParaRPr lang="en-US" sz="1000" dirty="0">
              <a:latin typeface="Times New Roman" panose="02020603050405020304" pitchFamily="18" charset="0"/>
              <a:cs typeface="Times New Roman" panose="02020603050405020304" pitchFamily="18" charset="0"/>
            </a:endParaRPr>
          </a:p>
          <a:p>
            <a:r>
              <a:rPr lang="en-US" sz="1000" dirty="0">
                <a:latin typeface="Times New Roman" panose="02020603050405020304" pitchFamily="18" charset="0"/>
                <a:cs typeface="Times New Roman" panose="02020603050405020304" pitchFamily="18" charset="0"/>
              </a:rPr>
              <a:t>The SVM model has high precision for the positive class, indicating that when it predicts a review as positive, it's very likely to be correct.</a:t>
            </a:r>
          </a:p>
          <a:p>
            <a:r>
              <a:rPr lang="en-US" sz="1000" dirty="0">
                <a:latin typeface="Times New Roman" panose="02020603050405020304" pitchFamily="18" charset="0"/>
                <a:cs typeface="Times New Roman" panose="02020603050405020304" pitchFamily="18" charset="0"/>
              </a:rPr>
              <a:t>However, the recall for the negative and neutral classes is relatively low, meaning it misses a significant number of actual negative and neutral reviews.</a:t>
            </a:r>
          </a:p>
          <a:p>
            <a:r>
              <a:rPr lang="en-US" sz="1000" dirty="0">
                <a:latin typeface="Times New Roman" panose="02020603050405020304" pitchFamily="18" charset="0"/>
                <a:cs typeface="Times New Roman" panose="02020603050405020304" pitchFamily="18" charset="0"/>
              </a:rPr>
              <a:t>The overall accuracy is 83%, which is decent but might be misleading due to the class imbalance (many more positive reviews).</a:t>
            </a:r>
          </a:p>
          <a:p>
            <a:r>
              <a:rPr lang="en-US" sz="1000" dirty="0">
                <a:latin typeface="Times New Roman" panose="02020603050405020304" pitchFamily="18" charset="0"/>
                <a:cs typeface="Times New Roman" panose="02020603050405020304" pitchFamily="18" charset="0"/>
              </a:rPr>
              <a:t>The confusion matrix shows that the model tends to misclassify negative reviews as neutral or positive.</a:t>
            </a:r>
          </a:p>
          <a:p>
            <a:endParaRPr lang="en-IN" sz="10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916706" y="3052079"/>
            <a:ext cx="2823882" cy="101566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000" b="1" dirty="0">
                <a:latin typeface="Times New Roman" panose="02020603050405020304" pitchFamily="18" charset="0"/>
                <a:cs typeface="Times New Roman" panose="02020603050405020304" pitchFamily="18" charset="0"/>
              </a:rPr>
              <a:t>Random Forest Performance</a:t>
            </a:r>
            <a:endParaRPr lang="en-US" sz="1000" dirty="0">
              <a:latin typeface="Times New Roman" panose="02020603050405020304" pitchFamily="18" charset="0"/>
              <a:cs typeface="Times New Roman" panose="02020603050405020304" pitchFamily="18" charset="0"/>
            </a:endParaRPr>
          </a:p>
          <a:p>
            <a:r>
              <a:rPr lang="en-US" sz="1000" b="1" dirty="0">
                <a:latin typeface="Times New Roman" panose="02020603050405020304" pitchFamily="18" charset="0"/>
                <a:cs typeface="Times New Roman" panose="02020603050405020304" pitchFamily="18" charset="0"/>
              </a:rPr>
              <a:t>Classification Report:</a:t>
            </a:r>
            <a:endParaRPr lang="en-US" sz="1000" dirty="0">
              <a:latin typeface="Times New Roman" panose="02020603050405020304" pitchFamily="18" charset="0"/>
              <a:cs typeface="Times New Roman" panose="02020603050405020304" pitchFamily="18" charset="0"/>
            </a:endParaRPr>
          </a:p>
          <a:p>
            <a:r>
              <a:rPr lang="en-US" sz="1000" dirty="0">
                <a:latin typeface="Times New Roman" panose="02020603050405020304" pitchFamily="18" charset="0"/>
                <a:cs typeface="Times New Roman" panose="02020603050405020304" pitchFamily="18" charset="0"/>
              </a:rPr>
              <a:t>Precision, recall, </a:t>
            </a:r>
            <a:r>
              <a:rPr lang="en-US" sz="1000" dirty="0">
                <a:solidFill>
                  <a:schemeClr val="dk1"/>
                </a:solidFill>
                <a:latin typeface="Times New Roman" panose="02020603050405020304" pitchFamily="18" charset="0"/>
                <a:cs typeface="Times New Roman" panose="02020603050405020304" pitchFamily="18" charset="0"/>
              </a:rPr>
              <a:t>and</a:t>
            </a:r>
            <a:r>
              <a:rPr lang="en-US" sz="1000" dirty="0">
                <a:latin typeface="Times New Roman" panose="02020603050405020304" pitchFamily="18" charset="0"/>
                <a:cs typeface="Times New Roman" panose="02020603050405020304" pitchFamily="18" charset="0"/>
              </a:rPr>
              <a:t> F1-score are similar in interpretation to the SVM report.</a:t>
            </a:r>
          </a:p>
          <a:p>
            <a:r>
              <a:rPr lang="en-US" sz="1000" dirty="0">
                <a:latin typeface="Times New Roman" panose="02020603050405020304" pitchFamily="18" charset="0"/>
                <a:cs typeface="Times New Roman" panose="02020603050405020304" pitchFamily="18" charset="0"/>
              </a:rPr>
              <a:t>Accuracy: 0.89 (Slightly higher than SVM)</a:t>
            </a:r>
          </a:p>
          <a:p>
            <a:endParaRPr lang="en-IN" sz="10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930264" y="3000306"/>
            <a:ext cx="2608729" cy="363176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000" b="1" dirty="0">
                <a:latin typeface="Times New Roman" panose="02020603050405020304" pitchFamily="18" charset="0"/>
                <a:cs typeface="Times New Roman" panose="02020603050405020304" pitchFamily="18" charset="0"/>
              </a:rPr>
              <a:t>Comparison and Conclusion:</a:t>
            </a:r>
            <a:endParaRPr lang="en-US" sz="1000" dirty="0">
              <a:latin typeface="Times New Roman" panose="02020603050405020304" pitchFamily="18" charset="0"/>
              <a:cs typeface="Times New Roman" panose="02020603050405020304" pitchFamily="18" charset="0"/>
            </a:endParaRPr>
          </a:p>
          <a:p>
            <a:r>
              <a:rPr lang="en-US" sz="1000" b="1" dirty="0">
                <a:latin typeface="Times New Roman" panose="02020603050405020304" pitchFamily="18" charset="0"/>
                <a:cs typeface="Times New Roman" panose="02020603050405020304" pitchFamily="18" charset="0"/>
              </a:rPr>
              <a:t>Accuracy:</a:t>
            </a:r>
            <a:r>
              <a:rPr lang="en-US" sz="1000" dirty="0">
                <a:latin typeface="Times New Roman" panose="02020603050405020304" pitchFamily="18" charset="0"/>
                <a:cs typeface="Times New Roman" panose="02020603050405020304" pitchFamily="18" charset="0"/>
              </a:rPr>
              <a:t> Random Forest has slightly higher overall accuracy (89% vs. 83%).</a:t>
            </a:r>
          </a:p>
          <a:p>
            <a:r>
              <a:rPr lang="en-US" sz="1000" b="1" dirty="0">
                <a:latin typeface="Times New Roman" panose="02020603050405020304" pitchFamily="18" charset="0"/>
                <a:cs typeface="Times New Roman" panose="02020603050405020304" pitchFamily="18" charset="0"/>
              </a:rPr>
              <a:t>Precision for Positive Class:</a:t>
            </a:r>
            <a:r>
              <a:rPr lang="en-US" sz="1000" dirty="0">
                <a:latin typeface="Times New Roman" panose="02020603050405020304" pitchFamily="18" charset="0"/>
                <a:cs typeface="Times New Roman" panose="02020603050405020304" pitchFamily="18" charset="0"/>
              </a:rPr>
              <a:t> Both models have high precision for the positive class.</a:t>
            </a:r>
          </a:p>
          <a:p>
            <a:r>
              <a:rPr lang="en-US" sz="1000" b="1" dirty="0">
                <a:latin typeface="Times New Roman" panose="02020603050405020304" pitchFamily="18" charset="0"/>
                <a:cs typeface="Times New Roman" panose="02020603050405020304" pitchFamily="18" charset="0"/>
              </a:rPr>
              <a:t>Recall for Negative and Neutral Classes:</a:t>
            </a:r>
            <a:r>
              <a:rPr lang="en-US" sz="1000" dirty="0">
                <a:latin typeface="Times New Roman" panose="02020603050405020304" pitchFamily="18" charset="0"/>
                <a:cs typeface="Times New Roman" panose="02020603050405020304" pitchFamily="18" charset="0"/>
              </a:rPr>
              <a:t> Both models struggle with the minority classes, but SVM has better recall for negative reviews.</a:t>
            </a:r>
          </a:p>
          <a:p>
            <a:r>
              <a:rPr lang="en-US" sz="1000" b="1" dirty="0">
                <a:latin typeface="Times New Roman" panose="02020603050405020304" pitchFamily="18" charset="0"/>
                <a:cs typeface="Times New Roman" panose="02020603050405020304" pitchFamily="18" charset="0"/>
              </a:rPr>
              <a:t>F1-score:</a:t>
            </a:r>
            <a:r>
              <a:rPr lang="en-US" sz="1000" dirty="0">
                <a:latin typeface="Times New Roman" panose="02020603050405020304" pitchFamily="18" charset="0"/>
                <a:cs typeface="Times New Roman" panose="02020603050405020304" pitchFamily="18" charset="0"/>
              </a:rPr>
              <a:t> Reflects the balance between precision and recall, showing a similar trend.</a:t>
            </a:r>
          </a:p>
          <a:p>
            <a:r>
              <a:rPr lang="en-US" sz="1000" b="1" dirty="0">
                <a:latin typeface="Times New Roman" panose="02020603050405020304" pitchFamily="18" charset="0"/>
                <a:cs typeface="Times New Roman" panose="02020603050405020304" pitchFamily="18" charset="0"/>
              </a:rPr>
              <a:t>Overall:</a:t>
            </a:r>
            <a:endParaRPr lang="en-US" sz="1000" dirty="0">
              <a:latin typeface="Times New Roman" panose="02020603050405020304" pitchFamily="18" charset="0"/>
              <a:cs typeface="Times New Roman" panose="02020603050405020304" pitchFamily="18" charset="0"/>
            </a:endParaRPr>
          </a:p>
          <a:p>
            <a:r>
              <a:rPr lang="en-US" sz="1000" dirty="0">
                <a:latin typeface="Times New Roman" panose="02020603050405020304" pitchFamily="18" charset="0"/>
                <a:cs typeface="Times New Roman" panose="02020603050405020304" pitchFamily="18" charset="0"/>
              </a:rPr>
              <a:t>Random Forest seems to perform slightly better overall in terms of accuracy.</a:t>
            </a:r>
          </a:p>
          <a:p>
            <a:r>
              <a:rPr lang="en-US" sz="1000" dirty="0">
                <a:latin typeface="Times New Roman" panose="02020603050405020304" pitchFamily="18" charset="0"/>
                <a:cs typeface="Times New Roman" panose="02020603050405020304" pitchFamily="18" charset="0"/>
              </a:rPr>
              <a:t>However, SVM might be preferred if correctly identifying negative reviews is more crucial (higher recall for negative class).</a:t>
            </a:r>
          </a:p>
          <a:p>
            <a:r>
              <a:rPr lang="en-US" sz="1000" dirty="0">
                <a:latin typeface="Times New Roman" panose="02020603050405020304" pitchFamily="18" charset="0"/>
                <a:cs typeface="Times New Roman" panose="02020603050405020304" pitchFamily="18" charset="0"/>
              </a:rPr>
              <a:t>Both models have limitations in handling the class imbalance, especially for the neutral class. Further techniques like SMOTE or cost-sensitive learning might be needed to improve performance on the minority classes.</a:t>
            </a:r>
          </a:p>
          <a:p>
            <a:endParaRPr lang="en-IN" sz="1000"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3"/>
          <a:stretch>
            <a:fillRect/>
          </a:stretch>
        </p:blipFill>
        <p:spPr>
          <a:xfrm>
            <a:off x="7780325" y="459895"/>
            <a:ext cx="4084739" cy="1405683"/>
          </a:xfrm>
          <a:prstGeom prst="rect">
            <a:avLst/>
          </a:prstGeom>
          <a:ln>
            <a:noFill/>
          </a:ln>
          <a:effectLst>
            <a:outerShdw blurRad="190500" algn="tl" rotWithShape="0">
              <a:srgbClr val="000000">
                <a:alpha val="70000"/>
              </a:srgbClr>
            </a:outerShdw>
          </a:effectLst>
        </p:spPr>
      </p:pic>
      <p:sp>
        <p:nvSpPr>
          <p:cNvPr id="12" name="TextBox 11"/>
          <p:cNvSpPr txBox="1"/>
          <p:nvPr/>
        </p:nvSpPr>
        <p:spPr>
          <a:xfrm>
            <a:off x="5814459" y="1865578"/>
            <a:ext cx="6050605" cy="1169551"/>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000" b="1" dirty="0" smtClean="0">
                <a:latin typeface="Times New Roman" panose="02020603050405020304" pitchFamily="18" charset="0"/>
                <a:cs typeface="Times New Roman" panose="02020603050405020304" pitchFamily="18" charset="0"/>
              </a:rPr>
              <a:t>XG Boost Interpretation:</a:t>
            </a:r>
            <a:endParaRPr lang="en-US" sz="1000" b="1"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1000" b="1"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1000" dirty="0" smtClean="0">
                <a:latin typeface="Times New Roman" panose="02020603050405020304" pitchFamily="18" charset="0"/>
                <a:cs typeface="Times New Roman" panose="02020603050405020304" pitchFamily="18" charset="0"/>
              </a:rPr>
              <a:t>The over all accuracy of the Model was  at 95% for XG Boost </a:t>
            </a:r>
            <a:r>
              <a:rPr lang="en-US" sz="1000" dirty="0" err="1" smtClean="0">
                <a:latin typeface="Times New Roman" panose="02020603050405020304" pitchFamily="18" charset="0"/>
                <a:cs typeface="Times New Roman" panose="02020603050405020304" pitchFamily="18" charset="0"/>
              </a:rPr>
              <a:t>Ensembler</a:t>
            </a:r>
            <a:endParaRPr lang="en-US" sz="10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1000" dirty="0" smtClean="0">
                <a:latin typeface="Times New Roman" panose="02020603050405020304" pitchFamily="18" charset="0"/>
                <a:cs typeface="Times New Roman" panose="02020603050405020304" pitchFamily="18" charset="0"/>
              </a:rPr>
              <a:t>The model seems  giving 100% correct accuracy for Positive class </a:t>
            </a:r>
          </a:p>
          <a:p>
            <a:pPr marL="342900" indent="-342900">
              <a:buFont typeface="Wingdings" panose="05000000000000000000" pitchFamily="2" charset="2"/>
              <a:buChar char="v"/>
            </a:pPr>
            <a:r>
              <a:rPr lang="en-US" sz="1000" dirty="0" smtClean="0">
                <a:latin typeface="Times New Roman" panose="02020603050405020304" pitchFamily="18" charset="0"/>
                <a:cs typeface="Times New Roman" panose="02020603050405020304" pitchFamily="18" charset="0"/>
              </a:rPr>
              <a:t>For Neutral and Negative class , the performance KPIS , precision, recall,f1-score is highly  underperforming</a:t>
            </a:r>
          </a:p>
          <a:p>
            <a:pPr marL="342900" indent="-342900">
              <a:buFont typeface="Wingdings" panose="05000000000000000000" pitchFamily="2" charset="2"/>
              <a:buChar char="v"/>
            </a:pPr>
            <a:endParaRPr lang="en-IN" sz="10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5243208" y="1042887"/>
            <a:ext cx="1977957"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hlinkClick r:id="rId4" action="ppaction://hlinksldjump"/>
              </a:rPr>
              <a:t>Master Side Link</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39331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352337" y="0"/>
            <a:ext cx="6560148"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latin typeface="Times New Roman" panose="02020603050405020304" pitchFamily="18" charset="0"/>
                <a:cs typeface="Times New Roman" panose="02020603050405020304" pitchFamily="18" charset="0"/>
              </a:rPr>
              <a:t>Evaluation Metrics and AUC,ROC Curves</a:t>
            </a:r>
          </a:p>
          <a:p>
            <a:endParaRPr lang="en-IN" b="1" dirty="0"/>
          </a:p>
        </p:txBody>
      </p:sp>
      <p:pic>
        <p:nvPicPr>
          <p:cNvPr id="5" name="Picture 4"/>
          <p:cNvPicPr>
            <a:picLocks noChangeAspect="1"/>
          </p:cNvPicPr>
          <p:nvPr/>
        </p:nvPicPr>
        <p:blipFill>
          <a:blip r:embed="rId2"/>
          <a:stretch>
            <a:fillRect/>
          </a:stretch>
        </p:blipFill>
        <p:spPr>
          <a:xfrm>
            <a:off x="258391" y="710877"/>
            <a:ext cx="4255244" cy="23529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 name="Picture 1"/>
          <p:cNvPicPr>
            <a:picLocks noChangeAspect="1"/>
          </p:cNvPicPr>
          <p:nvPr/>
        </p:nvPicPr>
        <p:blipFill>
          <a:blip r:embed="rId3"/>
          <a:stretch>
            <a:fillRect/>
          </a:stretch>
        </p:blipFill>
        <p:spPr>
          <a:xfrm>
            <a:off x="6867728" y="710877"/>
            <a:ext cx="4165751" cy="2309728"/>
          </a:xfrm>
          <a:prstGeom prst="rect">
            <a:avLst/>
          </a:prstGeom>
          <a:ln>
            <a:noFill/>
          </a:ln>
          <a:effectLst>
            <a:outerShdw blurRad="190500" algn="tl" rotWithShape="0">
              <a:srgbClr val="000000">
                <a:alpha val="70000"/>
              </a:srgbClr>
            </a:outerShdw>
          </a:effectLst>
        </p:spPr>
      </p:pic>
      <p:sp>
        <p:nvSpPr>
          <p:cNvPr id="17" name="Content Placeholder 2"/>
          <p:cNvSpPr>
            <a:spLocks noGrp="1"/>
          </p:cNvSpPr>
          <p:nvPr>
            <p:ph idx="1"/>
          </p:nvPr>
        </p:nvSpPr>
        <p:spPr>
          <a:xfrm>
            <a:off x="161115" y="3148586"/>
            <a:ext cx="5918672" cy="3631593"/>
          </a:xfrm>
        </p:spPr>
        <p:style>
          <a:lnRef idx="2">
            <a:schemeClr val="dk1"/>
          </a:lnRef>
          <a:fillRef idx="1">
            <a:schemeClr val="lt1"/>
          </a:fillRef>
          <a:effectRef idx="0">
            <a:schemeClr val="dk1"/>
          </a:effectRef>
          <a:fontRef idx="minor">
            <a:schemeClr val="dk1"/>
          </a:fontRef>
        </p:style>
        <p:txBody>
          <a:bodyPr>
            <a:noAutofit/>
          </a:bodyPr>
          <a:lstStyle/>
          <a:p>
            <a:pPr marL="0" indent="0">
              <a:buNone/>
            </a:pPr>
            <a:r>
              <a:rPr lang="en-US" sz="900" b="1" u="sng" dirty="0" smtClean="0">
                <a:latin typeface="Times New Roman" panose="02020603050405020304" pitchFamily="18" charset="0"/>
                <a:cs typeface="Times New Roman" panose="02020603050405020304" pitchFamily="18" charset="0"/>
              </a:rPr>
              <a:t>Interpretation of </a:t>
            </a:r>
            <a:r>
              <a:rPr lang="en-IN" sz="850" b="1" u="sng" dirty="0" err="1" smtClean="0">
                <a:latin typeface="Times New Roman" panose="02020603050405020304" pitchFamily="18" charset="0"/>
                <a:cs typeface="Times New Roman" panose="02020603050405020304" pitchFamily="18" charset="0"/>
              </a:rPr>
              <a:t>best_nb_classifier</a:t>
            </a:r>
            <a:r>
              <a:rPr lang="en-IN" sz="850" b="1" u="sng" dirty="0" smtClean="0">
                <a:latin typeface="Times New Roman" panose="02020603050405020304" pitchFamily="18" charset="0"/>
                <a:cs typeface="Times New Roman" panose="02020603050405020304" pitchFamily="18" charset="0"/>
              </a:rPr>
              <a:t> ROC</a:t>
            </a:r>
            <a:endParaRPr lang="en-IN" sz="850" b="1" u="sng" dirty="0">
              <a:latin typeface="Times New Roman" panose="02020603050405020304" pitchFamily="18" charset="0"/>
              <a:cs typeface="Times New Roman" panose="02020603050405020304" pitchFamily="18" charset="0"/>
            </a:endParaRPr>
          </a:p>
          <a:p>
            <a:r>
              <a:rPr lang="en-US" sz="900" dirty="0" smtClean="0">
                <a:latin typeface="Times New Roman" panose="02020603050405020304" pitchFamily="18" charset="0"/>
                <a:cs typeface="Times New Roman" panose="02020603050405020304" pitchFamily="18" charset="0"/>
              </a:rPr>
              <a:t>Class </a:t>
            </a:r>
            <a:r>
              <a:rPr lang="en-US" sz="900" dirty="0">
                <a:latin typeface="Times New Roman" panose="02020603050405020304" pitchFamily="18" charset="0"/>
                <a:cs typeface="Times New Roman" panose="02020603050405020304" pitchFamily="18" charset="0"/>
              </a:rPr>
              <a:t>0 (AUC = 0.80): The model demonstrates good performance in distinguishing Class 0 from the other classes. An AUC of 0.80 indicates a relatively high true positive rate with a relatively low false positive rate for this class.</a:t>
            </a:r>
          </a:p>
          <a:p>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Class 1 (AUC = 0.71): The model shows fair performance in identifying Class 1. An AUC of 0.71 suggests that while the model is better than random guessing, there's room for improvement in its ability to correctly classify this class.</a:t>
            </a:r>
          </a:p>
          <a:p>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Class 2 (AUC = 0.81): The model exhibits good performance in distinguishing Class 2 from the other classes, with an AUC slightly better than that for Class 0. This indicates a relatively high true positive rate with a relatively low false positive rate for this class.</a:t>
            </a:r>
          </a:p>
          <a:p>
            <a:endParaRPr lang="en-US" sz="900" dirty="0">
              <a:latin typeface="Times New Roman" panose="02020603050405020304" pitchFamily="18" charset="0"/>
              <a:cs typeface="Times New Roman" panose="02020603050405020304" pitchFamily="18" charset="0"/>
            </a:endParaRPr>
          </a:p>
          <a:p>
            <a:pPr marL="0" indent="0">
              <a:buNone/>
            </a:pPr>
            <a:r>
              <a:rPr lang="en-US" sz="900" b="1" u="sng" dirty="0">
                <a:latin typeface="Times New Roman" panose="02020603050405020304" pitchFamily="18" charset="0"/>
                <a:cs typeface="Times New Roman" panose="02020603050405020304" pitchFamily="18" charset="0"/>
              </a:rPr>
              <a:t>Overall Interpretation</a:t>
            </a:r>
          </a:p>
          <a:p>
            <a:r>
              <a:rPr lang="en-US" sz="900" dirty="0" smtClean="0">
                <a:latin typeface="Times New Roman" panose="02020603050405020304" pitchFamily="18" charset="0"/>
                <a:cs typeface="Times New Roman" panose="02020603050405020304" pitchFamily="18" charset="0"/>
              </a:rPr>
              <a:t>Based </a:t>
            </a:r>
            <a:r>
              <a:rPr lang="en-US" sz="900" dirty="0">
                <a:latin typeface="Times New Roman" panose="02020603050405020304" pitchFamily="18" charset="0"/>
                <a:cs typeface="Times New Roman" panose="02020603050405020304" pitchFamily="18" charset="0"/>
              </a:rPr>
              <a:t>on these AUC values:</a:t>
            </a:r>
          </a:p>
          <a:p>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Strengths: </a:t>
            </a:r>
            <a:r>
              <a:rPr lang="en-US" sz="900" dirty="0" smtClean="0">
                <a:latin typeface="Times New Roman" panose="02020603050405020304" pitchFamily="18" charset="0"/>
                <a:cs typeface="Times New Roman" panose="02020603050405020304" pitchFamily="18" charset="0"/>
              </a:rPr>
              <a:t> </a:t>
            </a:r>
            <a:r>
              <a:rPr lang="en-US" sz="900" dirty="0" err="1">
                <a:latin typeface="Times New Roman" panose="02020603050405020304" pitchFamily="18" charset="0"/>
                <a:cs typeface="Times New Roman" panose="02020603050405020304" pitchFamily="18" charset="0"/>
              </a:rPr>
              <a:t>best_nb_classifier</a:t>
            </a:r>
            <a:r>
              <a:rPr lang="en-US" sz="900" dirty="0">
                <a:latin typeface="Times New Roman" panose="02020603050405020304" pitchFamily="18" charset="0"/>
                <a:cs typeface="Times New Roman" panose="02020603050405020304" pitchFamily="18" charset="0"/>
              </a:rPr>
              <a:t> model is particularly good at identifying Class 2 and Class 0.</a:t>
            </a:r>
          </a:p>
          <a:p>
            <a:r>
              <a:rPr lang="en-US" sz="900" dirty="0">
                <a:latin typeface="Times New Roman" panose="02020603050405020304" pitchFamily="18" charset="0"/>
                <a:cs typeface="Times New Roman" panose="02020603050405020304" pitchFamily="18" charset="0"/>
              </a:rPr>
              <a:t>Weaknesses: The model could benefit from further improvement in its ability to classify Class 1, as its AUC is closer to the 0.7 range, indicating fair but not excellent performance.</a:t>
            </a:r>
            <a:endParaRPr lang="en-IN" sz="900" dirty="0">
              <a:latin typeface="Times New Roman" panose="02020603050405020304" pitchFamily="18" charset="0"/>
              <a:cs typeface="Times New Roman" panose="02020603050405020304" pitchFamily="18" charset="0"/>
            </a:endParaRPr>
          </a:p>
        </p:txBody>
      </p:sp>
      <p:sp>
        <p:nvSpPr>
          <p:cNvPr id="18" name="Rectangle 1"/>
          <p:cNvSpPr txBox="1">
            <a:spLocks noChangeArrowheads="1"/>
          </p:cNvSpPr>
          <p:nvPr/>
        </p:nvSpPr>
        <p:spPr bwMode="auto">
          <a:xfrm>
            <a:off x="6079787" y="2922182"/>
            <a:ext cx="5963055" cy="4084401"/>
          </a:xfrm>
          <a:prstGeom prst="rect">
            <a:avLst/>
          </a:prstGeom>
        </p:spPr>
        <p:style>
          <a:lnRef idx="2">
            <a:schemeClr val="accent1"/>
          </a:lnRef>
          <a:fillRef idx="1">
            <a:schemeClr val="lt1"/>
          </a:fillRef>
          <a:effectRef idx="0">
            <a:schemeClr val="accent1"/>
          </a:effectRef>
          <a:fontRef idx="minor">
            <a:schemeClr val="dk1"/>
          </a:fontRef>
        </p:style>
        <p:txBody>
          <a:bodyPr vert="horz" wrap="square" lIns="91440" tIns="79350" rIns="91440" bIns="79350" numCol="1" rtlCol="0" anchor="ctr" anchorCtr="0" compatLnSpc="1">
            <a:prstTxWarp prst="textNoShape">
              <a:avLst/>
            </a:prstTxWarp>
            <a:spAutoFit/>
          </a:bodyPr>
          <a:lstStyle>
            <a:lvl1pPr marL="228600" indent="-228600" algn="l" defTabSz="914400" rtl="0" eaLnBrk="0" fontAlgn="base" latinLnBrk="0" hangingPunct="0">
              <a:lnSpc>
                <a:spcPct val="90000"/>
              </a:lnSpc>
              <a:spcBef>
                <a:spcPct val="0"/>
              </a:spcBef>
              <a:spcAft>
                <a:spcPct val="0"/>
              </a:spcAft>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0" fontAlgn="base" latinLnBrk="0" hangingPunct="0">
              <a:lnSpc>
                <a:spcPct val="90000"/>
              </a:lnSpc>
              <a:spcBef>
                <a:spcPct val="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0" fontAlgn="base" latinLnBrk="0" hangingPunct="0">
              <a:lnSpc>
                <a:spcPct val="90000"/>
              </a:lnSpc>
              <a:spcBef>
                <a:spcPct val="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9pPr>
          </a:lstStyle>
          <a:p>
            <a:pPr marL="0" indent="0" algn="just">
              <a:lnSpc>
                <a:spcPct val="100000"/>
              </a:lnSpc>
              <a:buNone/>
            </a:pPr>
            <a:r>
              <a:rPr lang="en-US" sz="1000" b="1" u="sng" dirty="0">
                <a:latin typeface="Times New Roman" panose="02020603050405020304" pitchFamily="18" charset="0"/>
                <a:cs typeface="Times New Roman" panose="02020603050405020304" pitchFamily="18" charset="0"/>
              </a:rPr>
              <a:t>Interpretation of</a:t>
            </a:r>
            <a:r>
              <a:rPr lang="en-US" sz="900" b="1" dirty="0">
                <a:latin typeface="Times New Roman" panose="02020603050405020304" pitchFamily="18" charset="0"/>
                <a:cs typeface="Times New Roman" panose="02020603050405020304" pitchFamily="18" charset="0"/>
              </a:rPr>
              <a:t> </a:t>
            </a:r>
            <a:r>
              <a:rPr lang="en-IN" sz="1000" b="1" u="sng" dirty="0" err="1">
                <a:latin typeface="Times New Roman" panose="02020603050405020304" pitchFamily="18" charset="0"/>
                <a:cs typeface="Times New Roman" panose="02020603050405020304" pitchFamily="18" charset="0"/>
              </a:rPr>
              <a:t>best_xgb_classifier</a:t>
            </a:r>
            <a:endParaRPr lang="en-IN" sz="1000" b="1" u="sng" dirty="0">
              <a:latin typeface="Times New Roman" panose="02020603050405020304" pitchFamily="18" charset="0"/>
              <a:cs typeface="Times New Roman" panose="02020603050405020304" pitchFamily="18" charset="0"/>
            </a:endParaRPr>
          </a:p>
          <a:p>
            <a:pPr marL="0" indent="0" algn="just">
              <a:lnSpc>
                <a:spcPct val="100000"/>
              </a:lnSpc>
              <a:buNone/>
            </a:pPr>
            <a:endParaRPr lang="en-IN" sz="1000" b="1" u="sng" dirty="0">
              <a:latin typeface="Times New Roman" panose="02020603050405020304" pitchFamily="18" charset="0"/>
              <a:cs typeface="Times New Roman" panose="02020603050405020304" pitchFamily="18" charset="0"/>
            </a:endParaRPr>
          </a:p>
          <a:p>
            <a:pPr marL="0" indent="0" algn="just">
              <a:lnSpc>
                <a:spcPct val="100000"/>
              </a:lnSpc>
              <a:buFontTx/>
              <a:buNone/>
            </a:pPr>
            <a:endParaRPr lang="en-US" altLang="en-US" sz="1000" b="1" u="sng" dirty="0" smtClean="0">
              <a:latin typeface="Times New Roman" panose="02020603050405020304" pitchFamily="18" charset="0"/>
              <a:cs typeface="Times New Roman" panose="02020603050405020304" pitchFamily="18" charset="0"/>
            </a:endParaRPr>
          </a:p>
          <a:p>
            <a:pPr marL="0" indent="0" algn="just">
              <a:lnSpc>
                <a:spcPct val="100000"/>
              </a:lnSpc>
              <a:buFontTx/>
              <a:buNone/>
            </a:pPr>
            <a:r>
              <a:rPr lang="en-US" altLang="en-US" sz="1000" b="1" u="sng" dirty="0" smtClean="0">
                <a:latin typeface="Times New Roman" panose="02020603050405020304" pitchFamily="18" charset="0"/>
                <a:cs typeface="Times New Roman" panose="02020603050405020304" pitchFamily="18" charset="0"/>
              </a:rPr>
              <a:t>Interpretation</a:t>
            </a:r>
            <a:endParaRPr lang="en-US" altLang="en-US" sz="1000" b="1" u="sng" dirty="0" smtClean="0">
              <a:latin typeface="Times New Roman" panose="02020603050405020304" pitchFamily="18" charset="0"/>
              <a:cs typeface="Times New Roman" panose="02020603050405020304" pitchFamily="18" charset="0"/>
            </a:endParaRPr>
          </a:p>
          <a:p>
            <a:pPr marL="0" indent="0" algn="just">
              <a:lnSpc>
                <a:spcPct val="100000"/>
              </a:lnSpc>
              <a:buFontTx/>
              <a:buChar char="•"/>
            </a:pPr>
            <a:r>
              <a:rPr lang="en-US" altLang="en-US" sz="1000" b="1" dirty="0" smtClean="0">
                <a:solidFill>
                  <a:srgbClr val="1F1F1F"/>
                </a:solidFill>
                <a:latin typeface="Times New Roman" panose="02020603050405020304" pitchFamily="18" charset="0"/>
                <a:cs typeface="Times New Roman" panose="02020603050405020304" pitchFamily="18" charset="0"/>
              </a:rPr>
              <a:t>Class 0 (AUC = 0.89):</a:t>
            </a:r>
            <a:r>
              <a:rPr lang="en-US" altLang="en-US" sz="1000" dirty="0" smtClean="0">
                <a:solidFill>
                  <a:srgbClr val="1F1F1F"/>
                </a:solidFill>
                <a:latin typeface="Times New Roman" panose="02020603050405020304" pitchFamily="18" charset="0"/>
                <a:cs typeface="Times New Roman" panose="02020603050405020304" pitchFamily="18" charset="0"/>
              </a:rPr>
              <a:t> The model demonstrates excellent performance in distinguishing Class 0 from the other classes. An AUC of 0.89 indicates a very high true positive rate with a relatively low false positive rate for this class. The model is highly effective in identifying instances belonging to Class 0.</a:t>
            </a:r>
          </a:p>
          <a:p>
            <a:pPr marL="0" indent="0" algn="just">
              <a:lnSpc>
                <a:spcPct val="100000"/>
              </a:lnSpc>
              <a:buFontTx/>
              <a:buChar char="•"/>
            </a:pPr>
            <a:r>
              <a:rPr lang="en-US" altLang="en-US" sz="1000" b="1" dirty="0" smtClean="0">
                <a:solidFill>
                  <a:srgbClr val="1F1F1F"/>
                </a:solidFill>
                <a:latin typeface="Times New Roman" panose="02020603050405020304" pitchFamily="18" charset="0"/>
                <a:cs typeface="Times New Roman" panose="02020603050405020304" pitchFamily="18" charset="0"/>
              </a:rPr>
              <a:t>Class 1 (AUC = 0.72):</a:t>
            </a:r>
            <a:r>
              <a:rPr lang="en-US" altLang="en-US" sz="1000" dirty="0" smtClean="0">
                <a:solidFill>
                  <a:srgbClr val="1F1F1F"/>
                </a:solidFill>
                <a:latin typeface="Times New Roman" panose="02020603050405020304" pitchFamily="18" charset="0"/>
                <a:cs typeface="Times New Roman" panose="02020603050405020304" pitchFamily="18" charset="0"/>
              </a:rPr>
              <a:t> The model shows fair performance in identifying Class 1. An AUC of 0.72 suggests that while the model is better than random guessing, there's room for improvement in its ability to correctly classify this class. It may produce more false positives or false negatives compared to its performance on Class 0.</a:t>
            </a:r>
          </a:p>
          <a:p>
            <a:pPr marL="0" indent="0" algn="just">
              <a:lnSpc>
                <a:spcPct val="100000"/>
              </a:lnSpc>
              <a:buFontTx/>
              <a:buChar char="•"/>
            </a:pPr>
            <a:r>
              <a:rPr lang="en-US" altLang="en-US" sz="1000" b="1" dirty="0" smtClean="0">
                <a:solidFill>
                  <a:srgbClr val="1F1F1F"/>
                </a:solidFill>
                <a:latin typeface="Times New Roman" panose="02020603050405020304" pitchFamily="18" charset="0"/>
                <a:cs typeface="Times New Roman" panose="02020603050405020304" pitchFamily="18" charset="0"/>
              </a:rPr>
              <a:t>Class 2 (AUC = 0.79):</a:t>
            </a:r>
            <a:r>
              <a:rPr lang="en-US" altLang="en-US" sz="1000" dirty="0" smtClean="0">
                <a:solidFill>
                  <a:srgbClr val="1F1F1F"/>
                </a:solidFill>
                <a:latin typeface="Times New Roman" panose="02020603050405020304" pitchFamily="18" charset="0"/>
                <a:cs typeface="Times New Roman" panose="02020603050405020304" pitchFamily="18" charset="0"/>
              </a:rPr>
              <a:t> The model exhibits good performance in distinguishing Class 2 from the other classes. An AUC of 0.79 indicates a relatively high true positive rate with a relatively low false positive rate for this class. The model performs better on Class 2 than on Class 1, but not as well as on Class 0.</a:t>
            </a:r>
          </a:p>
          <a:p>
            <a:pPr marL="0" indent="0" algn="just">
              <a:lnSpc>
                <a:spcPct val="100000"/>
              </a:lnSpc>
              <a:buFontTx/>
              <a:buNone/>
            </a:pPr>
            <a:r>
              <a:rPr lang="en-US" altLang="en-US" sz="1000" b="1" dirty="0" smtClean="0">
                <a:solidFill>
                  <a:srgbClr val="1F1F1F"/>
                </a:solidFill>
                <a:latin typeface="Times New Roman" panose="02020603050405020304" pitchFamily="18" charset="0"/>
                <a:cs typeface="Times New Roman" panose="02020603050405020304" pitchFamily="18" charset="0"/>
              </a:rPr>
              <a:t>Overall Interpretation</a:t>
            </a:r>
            <a:endParaRPr lang="en-US" altLang="en-US" sz="1000" dirty="0" smtClean="0">
              <a:latin typeface="Times New Roman" panose="02020603050405020304" pitchFamily="18" charset="0"/>
              <a:cs typeface="Times New Roman" panose="02020603050405020304" pitchFamily="18" charset="0"/>
            </a:endParaRPr>
          </a:p>
          <a:p>
            <a:pPr marL="0" indent="0" algn="just">
              <a:lnSpc>
                <a:spcPct val="100000"/>
              </a:lnSpc>
              <a:buFontTx/>
              <a:buNone/>
            </a:pPr>
            <a:r>
              <a:rPr lang="en-US" altLang="en-US" sz="1000" dirty="0" smtClean="0">
                <a:solidFill>
                  <a:srgbClr val="1F1F1F"/>
                </a:solidFill>
                <a:latin typeface="Times New Roman" panose="02020603050405020304" pitchFamily="18" charset="0"/>
                <a:cs typeface="Times New Roman" panose="02020603050405020304" pitchFamily="18" charset="0"/>
              </a:rPr>
              <a:t>Based on these AUC values:</a:t>
            </a:r>
            <a:endParaRPr lang="en-US" altLang="en-US" sz="1000" dirty="0" smtClean="0">
              <a:latin typeface="Times New Roman" panose="02020603050405020304" pitchFamily="18" charset="0"/>
              <a:cs typeface="Times New Roman" panose="02020603050405020304" pitchFamily="18" charset="0"/>
            </a:endParaRPr>
          </a:p>
          <a:p>
            <a:pPr marL="0" indent="0" algn="just">
              <a:lnSpc>
                <a:spcPct val="100000"/>
              </a:lnSpc>
              <a:buFontTx/>
              <a:buChar char="•"/>
            </a:pPr>
            <a:r>
              <a:rPr lang="en-US" altLang="en-US" sz="1000" b="1" dirty="0" smtClean="0">
                <a:solidFill>
                  <a:srgbClr val="1F1F1F"/>
                </a:solidFill>
                <a:latin typeface="Times New Roman" panose="02020603050405020304" pitchFamily="18" charset="0"/>
                <a:cs typeface="Times New Roman" panose="02020603050405020304" pitchFamily="18" charset="0"/>
              </a:rPr>
              <a:t>Strengths:</a:t>
            </a:r>
            <a:r>
              <a:rPr lang="en-US" altLang="en-US" sz="1000" dirty="0" smtClean="0">
                <a:solidFill>
                  <a:srgbClr val="1F1F1F"/>
                </a:solidFill>
                <a:latin typeface="Times New Roman" panose="02020603050405020304" pitchFamily="18" charset="0"/>
                <a:cs typeface="Times New Roman" panose="02020603050405020304" pitchFamily="18" charset="0"/>
              </a:rPr>
              <a:t>  </a:t>
            </a:r>
            <a:r>
              <a:rPr lang="en-US" altLang="en-US" sz="1000" dirty="0" err="1" smtClean="0">
                <a:solidFill>
                  <a:srgbClr val="1F1F1F"/>
                </a:solidFill>
                <a:latin typeface="Times New Roman" panose="02020603050405020304" pitchFamily="18" charset="0"/>
                <a:cs typeface="Times New Roman" panose="02020603050405020304" pitchFamily="18" charset="0"/>
              </a:rPr>
              <a:t>best_xgb_classifier</a:t>
            </a:r>
            <a:r>
              <a:rPr lang="en-US" altLang="en-US" sz="1000" dirty="0" smtClean="0">
                <a:solidFill>
                  <a:srgbClr val="1F1F1F"/>
                </a:solidFill>
                <a:latin typeface="Times New Roman" panose="02020603050405020304" pitchFamily="18" charset="0"/>
                <a:cs typeface="Times New Roman" panose="02020603050405020304" pitchFamily="18" charset="0"/>
              </a:rPr>
              <a:t> model is particularly strong at identifying Class 0, with excellent performance. It also shows good performance for Class 2.</a:t>
            </a:r>
          </a:p>
          <a:p>
            <a:pPr marL="0" indent="0" algn="just">
              <a:lnSpc>
                <a:spcPct val="100000"/>
              </a:lnSpc>
              <a:buFontTx/>
              <a:buChar char="•"/>
            </a:pPr>
            <a:r>
              <a:rPr lang="en-US" altLang="en-US" sz="1000" b="1" dirty="0" smtClean="0">
                <a:solidFill>
                  <a:srgbClr val="1F1F1F"/>
                </a:solidFill>
                <a:latin typeface="Times New Roman" panose="02020603050405020304" pitchFamily="18" charset="0"/>
                <a:cs typeface="Times New Roman" panose="02020603050405020304" pitchFamily="18" charset="0"/>
              </a:rPr>
              <a:t>Weaknesses:</a:t>
            </a:r>
            <a:r>
              <a:rPr lang="en-US" altLang="en-US" sz="1000" dirty="0" smtClean="0">
                <a:solidFill>
                  <a:srgbClr val="1F1F1F"/>
                </a:solidFill>
                <a:latin typeface="Times New Roman" panose="02020603050405020304" pitchFamily="18" charset="0"/>
                <a:cs typeface="Times New Roman" panose="02020603050405020304" pitchFamily="18" charset="0"/>
              </a:rPr>
              <a:t> The model's performance on Class 1 is its weakest point, with fair but not excellent performance. This suggests potential for improvement in correctly classifying instances of this class.</a:t>
            </a:r>
          </a:p>
          <a:p>
            <a:pPr marL="0" indent="0" algn="just">
              <a:lnSpc>
                <a:spcPct val="100000"/>
              </a:lnSpc>
              <a:buFontTx/>
              <a:buChar char="•"/>
            </a:pPr>
            <a:endParaRPr lang="en-US" altLang="en-US" sz="1000" dirty="0" smtClean="0">
              <a:solidFill>
                <a:srgbClr val="1F1F1F"/>
              </a:solidFill>
              <a:latin typeface="Times New Roman" panose="02020603050405020304" pitchFamily="18" charset="0"/>
              <a:cs typeface="Times New Roman" panose="02020603050405020304" pitchFamily="18" charset="0"/>
            </a:endParaRPr>
          </a:p>
          <a:p>
            <a:r>
              <a:rPr lang="en-US" sz="1000" b="1" dirty="0" smtClean="0">
                <a:latin typeface="Times New Roman" panose="02020603050405020304" pitchFamily="18" charset="0"/>
                <a:cs typeface="Times New Roman" panose="02020603050405020304" pitchFamily="18" charset="0"/>
              </a:rPr>
              <a:t>Additional Considerations</a:t>
            </a:r>
            <a:endParaRPr lang="en-US" sz="1000" dirty="0" smtClean="0">
              <a:latin typeface="Times New Roman" panose="02020603050405020304" pitchFamily="18" charset="0"/>
              <a:cs typeface="Times New Roman" panose="02020603050405020304" pitchFamily="18" charset="0"/>
            </a:endParaRPr>
          </a:p>
          <a:p>
            <a:r>
              <a:rPr lang="en-US" sz="1000" dirty="0" smtClean="0">
                <a:latin typeface="Times New Roman" panose="02020603050405020304" pitchFamily="18" charset="0"/>
                <a:cs typeface="Times New Roman" panose="02020603050405020304" pitchFamily="18" charset="0"/>
              </a:rPr>
              <a:t>Similar to the previous interpretation, consider factors such as class imbalance, </a:t>
            </a:r>
            <a:r>
              <a:rPr lang="en-US" sz="1000" dirty="0" err="1" smtClean="0">
                <a:latin typeface="Times New Roman" panose="02020603050405020304" pitchFamily="18" charset="0"/>
                <a:cs typeface="Times New Roman" panose="02020603050405020304" pitchFamily="18" charset="0"/>
              </a:rPr>
              <a:t>hyperparameter</a:t>
            </a:r>
            <a:r>
              <a:rPr lang="en-US" sz="1000" dirty="0" smtClean="0">
                <a:latin typeface="Times New Roman" panose="02020603050405020304" pitchFamily="18" charset="0"/>
                <a:cs typeface="Times New Roman" panose="02020603050405020304" pitchFamily="18" charset="0"/>
              </a:rPr>
              <a:t> tuning, feature engineering, and model selection to further optimize your </a:t>
            </a:r>
            <a:r>
              <a:rPr lang="en-US" sz="1000" dirty="0" err="1" smtClean="0">
                <a:latin typeface="Times New Roman" panose="02020603050405020304" pitchFamily="18" charset="0"/>
                <a:cs typeface="Times New Roman" panose="02020603050405020304" pitchFamily="18" charset="0"/>
              </a:rPr>
              <a:t>XGBoost</a:t>
            </a:r>
            <a:r>
              <a:rPr lang="en-US" sz="1000" dirty="0" smtClean="0">
                <a:latin typeface="Times New Roman" panose="02020603050405020304" pitchFamily="18" charset="0"/>
                <a:cs typeface="Times New Roman" panose="02020603050405020304" pitchFamily="18" charset="0"/>
              </a:rPr>
              <a:t> model's performance. Addressing the relatively lower AUC for Class 1 could involve techniques to balance class representation in the data or fine-tuning model parameters to improve its ability to discriminate this class effectively.</a:t>
            </a:r>
          </a:p>
          <a:p>
            <a:pPr marL="0" indent="0" algn="just">
              <a:lnSpc>
                <a:spcPct val="100000"/>
              </a:lnSpc>
              <a:buFontTx/>
              <a:buNone/>
            </a:pPr>
            <a:endParaRPr lang="en-US" altLang="en-US" sz="1000" dirty="0" smtClean="0"/>
          </a:p>
        </p:txBody>
      </p:sp>
      <p:sp>
        <p:nvSpPr>
          <p:cNvPr id="7" name="TextBox 6"/>
          <p:cNvSpPr txBox="1"/>
          <p:nvPr/>
        </p:nvSpPr>
        <p:spPr>
          <a:xfrm>
            <a:off x="10064885" y="46166"/>
            <a:ext cx="1977957"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hlinkClick r:id="rId4" action="ppaction://hlinksldjump"/>
              </a:rPr>
              <a:t>Master Side Link</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9619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322963" y="20050"/>
            <a:ext cx="5496126" cy="66088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Advanced Methods and LSTM Implementation</a:t>
            </a:r>
          </a:p>
          <a:p>
            <a:endParaRPr lang="en-IN" b="1" dirty="0"/>
          </a:p>
        </p:txBody>
      </p:sp>
      <p:pic>
        <p:nvPicPr>
          <p:cNvPr id="11" name="Picture 10"/>
          <p:cNvPicPr>
            <a:picLocks noChangeAspect="1"/>
          </p:cNvPicPr>
          <p:nvPr/>
        </p:nvPicPr>
        <p:blipFill>
          <a:blip r:embed="rId2"/>
          <a:stretch>
            <a:fillRect/>
          </a:stretch>
        </p:blipFill>
        <p:spPr>
          <a:xfrm>
            <a:off x="2" y="343215"/>
            <a:ext cx="4017522" cy="2491567"/>
          </a:xfrm>
          <a:prstGeom prst="rect">
            <a:avLst/>
          </a:prstGeom>
          <a:ln>
            <a:noFill/>
          </a:ln>
          <a:effectLst>
            <a:outerShdw blurRad="190500" algn="tl" rotWithShape="0">
              <a:srgbClr val="000000">
                <a:alpha val="70000"/>
              </a:srgbClr>
            </a:outerShdw>
          </a:effectLst>
        </p:spPr>
      </p:pic>
      <p:pic>
        <p:nvPicPr>
          <p:cNvPr id="12" name="Picture 11"/>
          <p:cNvPicPr>
            <a:picLocks noChangeAspect="1"/>
          </p:cNvPicPr>
          <p:nvPr/>
        </p:nvPicPr>
        <p:blipFill>
          <a:blip r:embed="rId3"/>
          <a:stretch>
            <a:fillRect/>
          </a:stretch>
        </p:blipFill>
        <p:spPr>
          <a:xfrm>
            <a:off x="7342542" y="155643"/>
            <a:ext cx="4244940" cy="2599943"/>
          </a:xfrm>
          <a:prstGeom prst="rect">
            <a:avLst/>
          </a:prstGeom>
          <a:ln>
            <a:noFill/>
          </a:ln>
          <a:effectLst>
            <a:outerShdw blurRad="292100" dist="139700" dir="2700000" algn="tl" rotWithShape="0">
              <a:srgbClr val="333333">
                <a:alpha val="65000"/>
              </a:srgbClr>
            </a:outerShdw>
          </a:effectLst>
        </p:spPr>
      </p:pic>
      <p:sp>
        <p:nvSpPr>
          <p:cNvPr id="13" name="TextBox 12"/>
          <p:cNvSpPr txBox="1"/>
          <p:nvPr/>
        </p:nvSpPr>
        <p:spPr>
          <a:xfrm>
            <a:off x="1" y="2834783"/>
            <a:ext cx="5710136" cy="34932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850" b="1" u="sng" dirty="0" smtClean="0">
                <a:latin typeface="Times New Roman" panose="02020603050405020304" pitchFamily="18" charset="0"/>
                <a:cs typeface="Times New Roman" panose="02020603050405020304" pitchFamily="18" charset="0"/>
              </a:rPr>
              <a:t>Interpretation with out SMOTHE And Weight Allocation</a:t>
            </a:r>
          </a:p>
          <a:p>
            <a:r>
              <a:rPr lang="en-US" sz="850" b="1" dirty="0" smtClean="0">
                <a:latin typeface="Times New Roman" panose="02020603050405020304" pitchFamily="18" charset="0"/>
                <a:cs typeface="Times New Roman" panose="02020603050405020304" pitchFamily="18" charset="0"/>
              </a:rPr>
              <a:t>Epochs</a:t>
            </a:r>
            <a:r>
              <a:rPr lang="en-US" sz="850" b="1" dirty="0">
                <a:latin typeface="Times New Roman" panose="02020603050405020304" pitchFamily="18" charset="0"/>
                <a:cs typeface="Times New Roman" panose="02020603050405020304" pitchFamily="18" charset="0"/>
              </a:rPr>
              <a:t>:</a:t>
            </a:r>
            <a:r>
              <a:rPr lang="en-US" sz="850" dirty="0">
                <a:latin typeface="Times New Roman" panose="02020603050405020304" pitchFamily="18" charset="0"/>
                <a:cs typeface="Times New Roman" panose="02020603050405020304" pitchFamily="18" charset="0"/>
              </a:rPr>
              <a:t> The model was trained for 10 epochs.</a:t>
            </a:r>
          </a:p>
          <a:p>
            <a:r>
              <a:rPr lang="en-US" sz="850" b="1" dirty="0">
                <a:latin typeface="Times New Roman" panose="02020603050405020304" pitchFamily="18" charset="0"/>
                <a:cs typeface="Times New Roman" panose="02020603050405020304" pitchFamily="18" charset="0"/>
              </a:rPr>
              <a:t>Accuracy and Loss:</a:t>
            </a:r>
            <a:endParaRPr lang="en-US" sz="850" dirty="0">
              <a:latin typeface="Times New Roman" panose="02020603050405020304" pitchFamily="18" charset="0"/>
              <a:cs typeface="Times New Roman" panose="02020603050405020304" pitchFamily="18" charset="0"/>
            </a:endParaRPr>
          </a:p>
          <a:p>
            <a:pPr lvl="1"/>
            <a:r>
              <a:rPr lang="en-US" sz="850" b="1" dirty="0">
                <a:latin typeface="Times New Roman" panose="02020603050405020304" pitchFamily="18" charset="0"/>
                <a:cs typeface="Times New Roman" panose="02020603050405020304" pitchFamily="18" charset="0"/>
              </a:rPr>
              <a:t>Accuracy:</a:t>
            </a:r>
            <a:r>
              <a:rPr lang="en-US" sz="850" dirty="0">
                <a:latin typeface="Times New Roman" panose="02020603050405020304" pitchFamily="18" charset="0"/>
                <a:cs typeface="Times New Roman" panose="02020603050405020304" pitchFamily="18" charset="0"/>
              </a:rPr>
              <a:t> Started high (around 0.90) and remained relatively stable around 0.93-0.94 throughout training. This is a good sign, indicating the model is learning effectively.</a:t>
            </a:r>
          </a:p>
          <a:p>
            <a:pPr lvl="1"/>
            <a:r>
              <a:rPr lang="en-US" sz="850" b="1" dirty="0">
                <a:latin typeface="Times New Roman" panose="02020603050405020304" pitchFamily="18" charset="0"/>
                <a:cs typeface="Times New Roman" panose="02020603050405020304" pitchFamily="18" charset="0"/>
              </a:rPr>
              <a:t>Loss:</a:t>
            </a:r>
            <a:r>
              <a:rPr lang="en-US" sz="850" dirty="0">
                <a:latin typeface="Times New Roman" panose="02020603050405020304" pitchFamily="18" charset="0"/>
                <a:cs typeface="Times New Roman" panose="02020603050405020304" pitchFamily="18" charset="0"/>
              </a:rPr>
              <a:t> Started at 0.92 and decreased consistently to around 0.21. This is also a positive trend, showing the model is reducing its error over time.</a:t>
            </a:r>
          </a:p>
          <a:p>
            <a:r>
              <a:rPr lang="en-US" sz="850" b="1" dirty="0">
                <a:latin typeface="Times New Roman" panose="02020603050405020304" pitchFamily="18" charset="0"/>
                <a:cs typeface="Times New Roman" panose="02020603050405020304" pitchFamily="18" charset="0"/>
              </a:rPr>
              <a:t>Evaluation</a:t>
            </a:r>
            <a:endParaRPr lang="en-US" sz="850" dirty="0">
              <a:latin typeface="Times New Roman" panose="02020603050405020304" pitchFamily="18" charset="0"/>
              <a:cs typeface="Times New Roman" panose="02020603050405020304" pitchFamily="18" charset="0"/>
            </a:endParaRPr>
          </a:p>
          <a:p>
            <a:r>
              <a:rPr lang="en-US" sz="850" b="1" dirty="0">
                <a:latin typeface="Times New Roman" panose="02020603050405020304" pitchFamily="18" charset="0"/>
                <a:cs typeface="Times New Roman" panose="02020603050405020304" pitchFamily="18" charset="0"/>
              </a:rPr>
              <a:t>Test Loss:</a:t>
            </a:r>
            <a:r>
              <a:rPr lang="en-US" sz="850" dirty="0">
                <a:latin typeface="Times New Roman" panose="02020603050405020304" pitchFamily="18" charset="0"/>
                <a:cs typeface="Times New Roman" panose="02020603050405020304" pitchFamily="18" charset="0"/>
              </a:rPr>
              <a:t> 0.22 which is relatively low and close to the final training loss, suggesting the model is not overfitting and generalizing well to unseen data.</a:t>
            </a:r>
          </a:p>
          <a:p>
            <a:r>
              <a:rPr lang="en-US" sz="850" b="1" dirty="0">
                <a:latin typeface="Times New Roman" panose="02020603050405020304" pitchFamily="18" charset="0"/>
                <a:cs typeface="Times New Roman" panose="02020603050405020304" pitchFamily="18" charset="0"/>
              </a:rPr>
              <a:t>Test Accuracy:</a:t>
            </a:r>
            <a:r>
              <a:rPr lang="en-US" sz="850" dirty="0">
                <a:latin typeface="Times New Roman" panose="02020603050405020304" pitchFamily="18" charset="0"/>
                <a:cs typeface="Times New Roman" panose="02020603050405020304" pitchFamily="18" charset="0"/>
              </a:rPr>
              <a:t> 0.94, which is high and indicates good performance on the test set.</a:t>
            </a:r>
          </a:p>
          <a:p>
            <a:r>
              <a:rPr lang="en-US" sz="850" b="1" dirty="0">
                <a:latin typeface="Times New Roman" panose="02020603050405020304" pitchFamily="18" charset="0"/>
                <a:cs typeface="Times New Roman" panose="02020603050405020304" pitchFamily="18" charset="0"/>
              </a:rPr>
              <a:t>Classification Report and Confusion Matrix</a:t>
            </a:r>
            <a:endParaRPr lang="en-US" sz="850" dirty="0">
              <a:latin typeface="Times New Roman" panose="02020603050405020304" pitchFamily="18" charset="0"/>
              <a:cs typeface="Times New Roman" panose="02020603050405020304" pitchFamily="18" charset="0"/>
            </a:endParaRPr>
          </a:p>
          <a:p>
            <a:r>
              <a:rPr lang="en-US" sz="850" b="1" dirty="0">
                <a:latin typeface="Times New Roman" panose="02020603050405020304" pitchFamily="18" charset="0"/>
                <a:cs typeface="Times New Roman" panose="02020603050405020304" pitchFamily="18" charset="0"/>
              </a:rPr>
              <a:t>Precision, Recall, F1-score:</a:t>
            </a:r>
            <a:endParaRPr lang="en-US" sz="850" dirty="0">
              <a:latin typeface="Times New Roman" panose="02020603050405020304" pitchFamily="18" charset="0"/>
              <a:cs typeface="Times New Roman" panose="02020603050405020304" pitchFamily="18" charset="0"/>
            </a:endParaRPr>
          </a:p>
          <a:p>
            <a:pPr lvl="1"/>
            <a:r>
              <a:rPr lang="en-US" sz="850" dirty="0">
                <a:latin typeface="Times New Roman" panose="02020603050405020304" pitchFamily="18" charset="0"/>
                <a:cs typeface="Times New Roman" panose="02020603050405020304" pitchFamily="18" charset="0"/>
              </a:rPr>
              <a:t>Class 0 and 1 have 0 precision, recall and f1-score, indicating the model completely failed to predict these classes.</a:t>
            </a:r>
          </a:p>
          <a:p>
            <a:pPr lvl="1"/>
            <a:r>
              <a:rPr lang="en-US" sz="850" dirty="0">
                <a:latin typeface="Times New Roman" panose="02020603050405020304" pitchFamily="18" charset="0"/>
                <a:cs typeface="Times New Roman" panose="02020603050405020304" pitchFamily="18" charset="0"/>
              </a:rPr>
              <a:t>Class 2 has high precision, recall, and F1-score (around 0.94, 1.00, and 0.97, respectively). This suggests the model is accurately identifying instances of Class 2.</a:t>
            </a:r>
          </a:p>
          <a:p>
            <a:r>
              <a:rPr lang="en-US" sz="850" b="1" dirty="0">
                <a:latin typeface="Times New Roman" panose="02020603050405020304" pitchFamily="18" charset="0"/>
                <a:cs typeface="Times New Roman" panose="02020603050405020304" pitchFamily="18" charset="0"/>
              </a:rPr>
              <a:t>Support:</a:t>
            </a:r>
            <a:r>
              <a:rPr lang="en-US" sz="850" dirty="0">
                <a:latin typeface="Times New Roman" panose="02020603050405020304" pitchFamily="18" charset="0"/>
                <a:cs typeface="Times New Roman" panose="02020603050405020304" pitchFamily="18" charset="0"/>
              </a:rPr>
              <a:t> There is a significant class imbalance, with Class 2 being the dominant class (751 instances) compared to Classes 0 (13 instances) and 1 (36 instances).</a:t>
            </a:r>
          </a:p>
          <a:p>
            <a:r>
              <a:rPr lang="en-US" sz="850" b="1" dirty="0">
                <a:latin typeface="Times New Roman" panose="02020603050405020304" pitchFamily="18" charset="0"/>
                <a:cs typeface="Times New Roman" panose="02020603050405020304" pitchFamily="18" charset="0"/>
              </a:rPr>
              <a:t>Confusion Matrix:</a:t>
            </a:r>
            <a:r>
              <a:rPr lang="en-US" sz="850" dirty="0">
                <a:latin typeface="Times New Roman" panose="02020603050405020304" pitchFamily="18" charset="0"/>
                <a:cs typeface="Times New Roman" panose="02020603050405020304" pitchFamily="18" charset="0"/>
              </a:rPr>
              <a:t> Confirms that the model is predominantly predicting Class 2. There are no predictions for Class 0 and 1, indicating the model is biased towards the majority class.</a:t>
            </a:r>
          </a:p>
          <a:p>
            <a:r>
              <a:rPr lang="en-US" sz="850" b="1" dirty="0">
                <a:latin typeface="Times New Roman" panose="02020603050405020304" pitchFamily="18" charset="0"/>
                <a:cs typeface="Times New Roman" panose="02020603050405020304" pitchFamily="18" charset="0"/>
              </a:rPr>
              <a:t>Overall Interpretation</a:t>
            </a:r>
            <a:endParaRPr lang="en-US" sz="850" dirty="0">
              <a:latin typeface="Times New Roman" panose="02020603050405020304" pitchFamily="18" charset="0"/>
              <a:cs typeface="Times New Roman" panose="02020603050405020304" pitchFamily="18" charset="0"/>
            </a:endParaRPr>
          </a:p>
          <a:p>
            <a:r>
              <a:rPr lang="en-US" sz="850" b="1" dirty="0">
                <a:latin typeface="Times New Roman" panose="02020603050405020304" pitchFamily="18" charset="0"/>
                <a:cs typeface="Times New Roman" panose="02020603050405020304" pitchFamily="18" charset="0"/>
              </a:rPr>
              <a:t>Strengths:</a:t>
            </a:r>
            <a:r>
              <a:rPr lang="en-US" sz="850" dirty="0">
                <a:latin typeface="Times New Roman" panose="02020603050405020304" pitchFamily="18" charset="0"/>
                <a:cs typeface="Times New Roman" panose="02020603050405020304" pitchFamily="18" charset="0"/>
              </a:rPr>
              <a:t> The LSTM model demonstrates high accuracy and good performance on Class 2, the majority class. It's not overfitting and generalizes well.</a:t>
            </a:r>
          </a:p>
          <a:p>
            <a:r>
              <a:rPr lang="en-US" sz="850" b="1" dirty="0">
                <a:latin typeface="Times New Roman" panose="02020603050405020304" pitchFamily="18" charset="0"/>
                <a:cs typeface="Times New Roman" panose="02020603050405020304" pitchFamily="18" charset="0"/>
              </a:rPr>
              <a:t>Weaknesses:</a:t>
            </a:r>
            <a:r>
              <a:rPr lang="en-US" sz="850" dirty="0">
                <a:latin typeface="Times New Roman" panose="02020603050405020304" pitchFamily="18" charset="0"/>
                <a:cs typeface="Times New Roman" panose="02020603050405020304" pitchFamily="18" charset="0"/>
              </a:rPr>
              <a:t> The model completely fails to identify Classes 0 and 1. This is likely due to the significant class imbalance, as the model is biased towards the dominant Class 2.</a:t>
            </a:r>
          </a:p>
          <a:p>
            <a:endParaRPr lang="en-IN" sz="85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5710137" y="2755586"/>
            <a:ext cx="6267855" cy="403187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800" b="1" u="sng" dirty="0" smtClean="0">
                <a:latin typeface="Times New Roman" panose="02020603050405020304" pitchFamily="18" charset="0"/>
                <a:cs typeface="Times New Roman" panose="02020603050405020304" pitchFamily="18" charset="0"/>
              </a:rPr>
              <a:t>Interpretation Post SMOTHE and Weight Allocation</a:t>
            </a:r>
            <a:endParaRPr lang="en-US" sz="800" b="1" u="sng" dirty="0">
              <a:latin typeface="Times New Roman" panose="02020603050405020304" pitchFamily="18" charset="0"/>
              <a:cs typeface="Times New Roman" panose="02020603050405020304" pitchFamily="18" charset="0"/>
            </a:endParaRPr>
          </a:p>
          <a:p>
            <a:r>
              <a:rPr lang="en-US" sz="800" b="1" dirty="0" smtClean="0">
                <a:latin typeface="Times New Roman" panose="02020603050405020304" pitchFamily="18" charset="0"/>
                <a:cs typeface="Times New Roman" panose="02020603050405020304" pitchFamily="18" charset="0"/>
              </a:rPr>
              <a:t>Training </a:t>
            </a:r>
            <a:r>
              <a:rPr lang="en-US" sz="800" b="1" dirty="0">
                <a:latin typeface="Times New Roman" panose="02020603050405020304" pitchFamily="18" charset="0"/>
                <a:cs typeface="Times New Roman" panose="02020603050405020304" pitchFamily="18" charset="0"/>
              </a:rPr>
              <a:t>Progress</a:t>
            </a:r>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Epochs:</a:t>
            </a:r>
            <a:r>
              <a:rPr lang="en-US" sz="800" dirty="0">
                <a:latin typeface="Times New Roman" panose="02020603050405020304" pitchFamily="18" charset="0"/>
                <a:cs typeface="Times New Roman" panose="02020603050405020304" pitchFamily="18" charset="0"/>
              </a:rPr>
              <a:t> The model was trained for 10 epochs.</a:t>
            </a:r>
          </a:p>
          <a:p>
            <a:r>
              <a:rPr lang="en-US" sz="800" b="1" dirty="0">
                <a:latin typeface="Times New Roman" panose="02020603050405020304" pitchFamily="18" charset="0"/>
                <a:cs typeface="Times New Roman" panose="02020603050405020304" pitchFamily="18" charset="0"/>
              </a:rPr>
              <a:t>Accuracy and Loss:</a:t>
            </a:r>
            <a:endParaRPr lang="en-US" sz="800" dirty="0">
              <a:latin typeface="Times New Roman" panose="02020603050405020304" pitchFamily="18" charset="0"/>
              <a:cs typeface="Times New Roman" panose="02020603050405020304" pitchFamily="18" charset="0"/>
            </a:endParaRPr>
          </a:p>
          <a:p>
            <a:pPr lvl="1"/>
            <a:r>
              <a:rPr lang="en-US" sz="800" b="1" dirty="0">
                <a:latin typeface="Times New Roman" panose="02020603050405020304" pitchFamily="18" charset="0"/>
                <a:cs typeface="Times New Roman" panose="02020603050405020304" pitchFamily="18" charset="0"/>
              </a:rPr>
              <a:t>Accuracy:</a:t>
            </a:r>
            <a:r>
              <a:rPr lang="en-US" sz="800" dirty="0">
                <a:latin typeface="Times New Roman" panose="02020603050405020304" pitchFamily="18" charset="0"/>
                <a:cs typeface="Times New Roman" panose="02020603050405020304" pitchFamily="18" charset="0"/>
              </a:rPr>
              <a:t> Started at 0.48 and gradually increased to around 0.88 by the final epoch. This indicates significant improvement in learning and classification ability compared to the previous LSTM results.</a:t>
            </a:r>
          </a:p>
          <a:p>
            <a:pPr lvl="1"/>
            <a:r>
              <a:rPr lang="en-US" sz="800" b="1" dirty="0">
                <a:latin typeface="Times New Roman" panose="02020603050405020304" pitchFamily="18" charset="0"/>
                <a:cs typeface="Times New Roman" panose="02020603050405020304" pitchFamily="18" charset="0"/>
              </a:rPr>
              <a:t>Loss:</a:t>
            </a:r>
            <a:r>
              <a:rPr lang="en-US" sz="800" dirty="0">
                <a:latin typeface="Times New Roman" panose="02020603050405020304" pitchFamily="18" charset="0"/>
                <a:cs typeface="Times New Roman" panose="02020603050405020304" pitchFamily="18" charset="0"/>
              </a:rPr>
              <a:t> Started at 1.05 and steadily decreased to 0.33, demonstrating the model's ability to reduce errors during training. This is a positive trend.</a:t>
            </a:r>
          </a:p>
          <a:p>
            <a:r>
              <a:rPr lang="en-US" sz="800" b="1" dirty="0">
                <a:latin typeface="Times New Roman" panose="02020603050405020304" pitchFamily="18" charset="0"/>
                <a:cs typeface="Times New Roman" panose="02020603050405020304" pitchFamily="18" charset="0"/>
              </a:rPr>
              <a:t>Evaluation</a:t>
            </a:r>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Test Loss:</a:t>
            </a:r>
            <a:r>
              <a:rPr lang="en-US" sz="800" dirty="0">
                <a:latin typeface="Times New Roman" panose="02020603050405020304" pitchFamily="18" charset="0"/>
                <a:cs typeface="Times New Roman" panose="02020603050405020304" pitchFamily="18" charset="0"/>
              </a:rPr>
              <a:t> 0.32, which is relatively low and consistent with the final training loss. This suggests good generalization to unseen data and minimal overfitting.</a:t>
            </a:r>
          </a:p>
          <a:p>
            <a:r>
              <a:rPr lang="en-US" sz="800" b="1" dirty="0">
                <a:latin typeface="Times New Roman" panose="02020603050405020304" pitchFamily="18" charset="0"/>
                <a:cs typeface="Times New Roman" panose="02020603050405020304" pitchFamily="18" charset="0"/>
              </a:rPr>
              <a:t>Test Accuracy:</a:t>
            </a:r>
            <a:r>
              <a:rPr lang="en-US" sz="800" dirty="0">
                <a:latin typeface="Times New Roman" panose="02020603050405020304" pitchFamily="18" charset="0"/>
                <a:cs typeface="Times New Roman" panose="02020603050405020304" pitchFamily="18" charset="0"/>
              </a:rPr>
              <a:t> 0.88, which is significantly higher than the previous LSTM results, indicating a substantial improvement in performance.</a:t>
            </a:r>
          </a:p>
          <a:p>
            <a:r>
              <a:rPr lang="en-US" sz="800" b="1" dirty="0">
                <a:latin typeface="Times New Roman" panose="02020603050405020304" pitchFamily="18" charset="0"/>
                <a:cs typeface="Times New Roman" panose="02020603050405020304" pitchFamily="18" charset="0"/>
              </a:rPr>
              <a:t>Classification Report and Confusion Matrix</a:t>
            </a:r>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Precision, Recall, F1-score:</a:t>
            </a:r>
            <a:r>
              <a:rPr lang="en-US" sz="800" dirty="0">
                <a:latin typeface="Times New Roman" panose="02020603050405020304" pitchFamily="18" charset="0"/>
                <a:cs typeface="Times New Roman" panose="02020603050405020304" pitchFamily="18" charset="0"/>
              </a:rPr>
              <a:t> All three classes (0, 1, and 2) now show much better precision, recall, and F1-score compared to before. This indicates that the model is making more accurate predictions for all classes.</a:t>
            </a:r>
          </a:p>
          <a:p>
            <a:pPr lvl="1"/>
            <a:r>
              <a:rPr lang="en-US" sz="800" dirty="0">
                <a:latin typeface="Times New Roman" panose="02020603050405020304" pitchFamily="18" charset="0"/>
                <a:cs typeface="Times New Roman" panose="02020603050405020304" pitchFamily="18" charset="0"/>
              </a:rPr>
              <a:t>Class 0: Precision 0.81, Recall 0.98, F1-score 0.89</a:t>
            </a:r>
          </a:p>
          <a:p>
            <a:pPr lvl="1"/>
            <a:r>
              <a:rPr lang="en-US" sz="800" dirty="0">
                <a:latin typeface="Times New Roman" panose="02020603050405020304" pitchFamily="18" charset="0"/>
                <a:cs typeface="Times New Roman" panose="02020603050405020304" pitchFamily="18" charset="0"/>
              </a:rPr>
              <a:t>Class 1: Precision 0.87, Recall 0.82, F1-score 0.84</a:t>
            </a:r>
          </a:p>
          <a:p>
            <a:pPr lvl="1"/>
            <a:r>
              <a:rPr lang="en-US" sz="800" dirty="0">
                <a:latin typeface="Times New Roman" panose="02020603050405020304" pitchFamily="18" charset="0"/>
                <a:cs typeface="Times New Roman" panose="02020603050405020304" pitchFamily="18" charset="0"/>
              </a:rPr>
              <a:t>Class 2: Precision 0.99, Recall 0.86, F1-score 0.92</a:t>
            </a:r>
          </a:p>
          <a:p>
            <a:r>
              <a:rPr lang="en-US" sz="800" b="1" dirty="0">
                <a:latin typeface="Times New Roman" panose="02020603050405020304" pitchFamily="18" charset="0"/>
                <a:cs typeface="Times New Roman" panose="02020603050405020304" pitchFamily="18" charset="0"/>
              </a:rPr>
              <a:t>Support:</a:t>
            </a:r>
            <a:r>
              <a:rPr lang="en-US" sz="800" dirty="0">
                <a:latin typeface="Times New Roman" panose="02020603050405020304" pitchFamily="18" charset="0"/>
                <a:cs typeface="Times New Roman" panose="02020603050405020304" pitchFamily="18" charset="0"/>
              </a:rPr>
              <a:t> The support values indicate a more balanced distribution of instances across the three classes after applying SMOTE.</a:t>
            </a:r>
          </a:p>
          <a:p>
            <a:r>
              <a:rPr lang="en-US" sz="800" b="1" dirty="0">
                <a:latin typeface="Times New Roman" panose="02020603050405020304" pitchFamily="18" charset="0"/>
                <a:cs typeface="Times New Roman" panose="02020603050405020304" pitchFamily="18" charset="0"/>
              </a:rPr>
              <a:t>Confusion Matrix:</a:t>
            </a:r>
            <a:r>
              <a:rPr lang="en-US" sz="800" dirty="0">
                <a:latin typeface="Times New Roman" panose="02020603050405020304" pitchFamily="18" charset="0"/>
                <a:cs typeface="Times New Roman" panose="02020603050405020304" pitchFamily="18" charset="0"/>
              </a:rPr>
              <a:t> The confusion matrix reveals a much better distribution of predictions, with more instances being classified correctly for all classes. There are still some misclassifications, but the overall pattern shows significant improvement.</a:t>
            </a:r>
          </a:p>
          <a:p>
            <a:r>
              <a:rPr lang="en-US" sz="800" b="1" dirty="0">
                <a:latin typeface="Times New Roman" panose="02020603050405020304" pitchFamily="18" charset="0"/>
                <a:cs typeface="Times New Roman" panose="02020603050405020304" pitchFamily="18" charset="0"/>
              </a:rPr>
              <a:t>Overall Interpretation</a:t>
            </a:r>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Strengths:</a:t>
            </a:r>
            <a:r>
              <a:rPr lang="en-US" sz="800" dirty="0">
                <a:latin typeface="Times New Roman" panose="02020603050405020304" pitchFamily="18" charset="0"/>
                <a:cs typeface="Times New Roman" panose="02020603050405020304" pitchFamily="18" charset="0"/>
              </a:rPr>
              <a:t> The LSTM model demonstrates much better performance after applying SMOTE and weight allocation. Accuracy has increased substantially, and the model is now making more accurate predictions for all classes. The loss is low, indicating good generalization.</a:t>
            </a:r>
          </a:p>
          <a:p>
            <a:r>
              <a:rPr lang="en-US" sz="800" b="1" dirty="0">
                <a:latin typeface="Times New Roman" panose="02020603050405020304" pitchFamily="18" charset="0"/>
                <a:cs typeface="Times New Roman" panose="02020603050405020304" pitchFamily="18" charset="0"/>
              </a:rPr>
              <a:t>Weaknesses:</a:t>
            </a:r>
            <a:r>
              <a:rPr lang="en-US" sz="800" dirty="0">
                <a:latin typeface="Times New Roman" panose="02020603050405020304" pitchFamily="18" charset="0"/>
                <a:cs typeface="Times New Roman" panose="02020603050405020304" pitchFamily="18" charset="0"/>
              </a:rPr>
              <a:t> While significantly improved, the model is still not perfect, and there are some misclassifications.</a:t>
            </a:r>
          </a:p>
          <a:p>
            <a:r>
              <a:rPr lang="en-US" sz="800" b="1" dirty="0">
                <a:latin typeface="Times New Roman" panose="02020603050405020304" pitchFamily="18" charset="0"/>
                <a:cs typeface="Times New Roman" panose="02020603050405020304" pitchFamily="18" charset="0"/>
              </a:rPr>
              <a:t>Key Takeaways</a:t>
            </a:r>
            <a:endParaRPr lang="en-US" sz="800" dirty="0">
              <a:latin typeface="Times New Roman" panose="02020603050405020304" pitchFamily="18" charset="0"/>
              <a:cs typeface="Times New Roman" panose="02020603050405020304" pitchFamily="18" charset="0"/>
            </a:endParaRPr>
          </a:p>
          <a:p>
            <a:r>
              <a:rPr lang="en-US" sz="800" dirty="0">
                <a:latin typeface="Times New Roman" panose="02020603050405020304" pitchFamily="18" charset="0"/>
                <a:cs typeface="Times New Roman" panose="02020603050405020304" pitchFamily="18" charset="0"/>
              </a:rPr>
              <a:t>SMOTE and weight allocation were crucial in addressing the class imbalance problem and significantly improved the LSTM model's performance.</a:t>
            </a:r>
          </a:p>
          <a:p>
            <a:r>
              <a:rPr lang="en-US" sz="800" dirty="0">
                <a:latin typeface="Times New Roman" panose="02020603050405020304" pitchFamily="18" charset="0"/>
                <a:cs typeface="Times New Roman" panose="02020603050405020304" pitchFamily="18" charset="0"/>
              </a:rPr>
              <a:t>The model now shows good performance on all classes, indicating that it's learning patterns more effectively and generalizing well to unseen data.</a:t>
            </a:r>
          </a:p>
          <a:p>
            <a:r>
              <a:rPr lang="en-US" sz="800" dirty="0">
                <a:latin typeface="Times New Roman" panose="02020603050405020304" pitchFamily="18" charset="0"/>
                <a:cs typeface="Times New Roman" panose="02020603050405020304" pitchFamily="18" charset="0"/>
              </a:rPr>
              <a:t>Further improvements might be possible by fine-tuning the model's architecture, </a:t>
            </a:r>
            <a:r>
              <a:rPr lang="en-US" sz="800" dirty="0" err="1">
                <a:latin typeface="Times New Roman" panose="02020603050405020304" pitchFamily="18" charset="0"/>
                <a:cs typeface="Times New Roman" panose="02020603050405020304" pitchFamily="18" charset="0"/>
              </a:rPr>
              <a:t>hyperparameters</a:t>
            </a:r>
            <a:r>
              <a:rPr lang="en-US" sz="800" dirty="0">
                <a:latin typeface="Times New Roman" panose="02020603050405020304" pitchFamily="18" charset="0"/>
                <a:cs typeface="Times New Roman" panose="02020603050405020304" pitchFamily="18" charset="0"/>
              </a:rPr>
              <a:t>, or exploring other techniques, but the current results show a substantial step in the right direction.</a:t>
            </a:r>
          </a:p>
          <a:p>
            <a:r>
              <a:rPr lang="en-IN" sz="800" b="1" dirty="0" smtClean="0">
                <a:latin typeface="Times New Roman" panose="02020603050405020304" pitchFamily="18" charset="0"/>
                <a:cs typeface="Times New Roman" panose="02020603050405020304" pitchFamily="18" charset="0"/>
              </a:rPr>
              <a:t>loss</a:t>
            </a:r>
            <a:r>
              <a:rPr lang="en-IN" sz="800" b="1" dirty="0">
                <a:latin typeface="Times New Roman" panose="02020603050405020304" pitchFamily="18" charset="0"/>
                <a:cs typeface="Times New Roman" panose="02020603050405020304" pitchFamily="18" charset="0"/>
              </a:rPr>
              <a:t>=</a:t>
            </a:r>
            <a:r>
              <a:rPr lang="en-IN" sz="800" b="1" dirty="0" smtClean="0">
                <a:latin typeface="Times New Roman" panose="02020603050405020304" pitchFamily="18" charset="0"/>
                <a:cs typeface="Times New Roman" panose="02020603050405020304" pitchFamily="18" charset="0"/>
              </a:rPr>
              <a:t>'</a:t>
            </a:r>
            <a:r>
              <a:rPr lang="en-IN" sz="800" b="1" dirty="0" err="1" smtClean="0">
                <a:latin typeface="Times New Roman" panose="02020603050405020304" pitchFamily="18" charset="0"/>
                <a:cs typeface="Times New Roman" panose="02020603050405020304" pitchFamily="18" charset="0"/>
              </a:rPr>
              <a:t>sparse_categorical_crossentropy</a:t>
            </a:r>
            <a:r>
              <a:rPr lang="en-IN" sz="800" b="1" dirty="0" smtClean="0">
                <a:latin typeface="Times New Roman" panose="02020603050405020304" pitchFamily="18" charset="0"/>
                <a:cs typeface="Times New Roman" panose="02020603050405020304" pitchFamily="18" charset="0"/>
              </a:rPr>
              <a:t>‘, </a:t>
            </a:r>
            <a:r>
              <a:rPr lang="en-IN" sz="800" dirty="0" smtClean="0">
                <a:latin typeface="Times New Roman" panose="02020603050405020304" pitchFamily="18" charset="0"/>
                <a:cs typeface="Times New Roman" panose="02020603050405020304" pitchFamily="18" charset="0"/>
              </a:rPr>
              <a:t>helped in improving the performance of model significantly</a:t>
            </a:r>
            <a:endParaRPr lang="en-IN" sz="800" dirty="0">
              <a:latin typeface="Times New Roman" panose="02020603050405020304" pitchFamily="18" charset="0"/>
              <a:cs typeface="Times New Roman" panose="02020603050405020304" pitchFamily="18" charset="0"/>
            </a:endParaRPr>
          </a:p>
          <a:p>
            <a:endParaRPr lang="en-IN" sz="8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364585" y="350493"/>
            <a:ext cx="1977957"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hlinkClick r:id="rId4" action="ppaction://hlinksldjump"/>
              </a:rPr>
              <a:t>Master Side Link</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63397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85608" y="77821"/>
            <a:ext cx="7227651"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342900" indent="-342900">
              <a:buFont typeface="Wingdings" panose="05000000000000000000" pitchFamily="2" charset="2"/>
              <a:buChar char="v"/>
            </a:pPr>
            <a:endParaRPr lang="en-US" b="1" dirty="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Comparison </a:t>
            </a:r>
            <a:r>
              <a:rPr lang="en-US" b="1" dirty="0">
                <a:latin typeface="Times New Roman" panose="02020603050405020304" pitchFamily="18" charset="0"/>
                <a:cs typeface="Times New Roman" panose="02020603050405020304" pitchFamily="18" charset="0"/>
              </a:rPr>
              <a:t>of Performance and Optimization</a:t>
            </a:r>
          </a:p>
          <a:p>
            <a:endParaRPr lang="en-IN" b="1" dirty="0"/>
          </a:p>
        </p:txBody>
      </p:sp>
      <p:sp>
        <p:nvSpPr>
          <p:cNvPr id="5" name="TextBox 4"/>
          <p:cNvSpPr txBox="1"/>
          <p:nvPr/>
        </p:nvSpPr>
        <p:spPr>
          <a:xfrm>
            <a:off x="194553" y="1235414"/>
            <a:ext cx="6021421" cy="547842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000" b="1" dirty="0">
                <a:latin typeface="Times New Roman" panose="02020603050405020304" pitchFamily="18" charset="0"/>
                <a:cs typeface="Times New Roman" panose="02020603050405020304" pitchFamily="18" charset="0"/>
              </a:rPr>
              <a:t>Overall Observations</a:t>
            </a:r>
            <a:endParaRPr lang="en-US" sz="1000" dirty="0">
              <a:latin typeface="Times New Roman" panose="02020603050405020304" pitchFamily="18" charset="0"/>
              <a:cs typeface="Times New Roman" panose="02020603050405020304" pitchFamily="18" charset="0"/>
            </a:endParaRPr>
          </a:p>
          <a:p>
            <a:r>
              <a:rPr lang="en-US" sz="1000" b="1" dirty="0">
                <a:latin typeface="Times New Roman" panose="02020603050405020304" pitchFamily="18" charset="0"/>
                <a:cs typeface="Times New Roman" panose="02020603050405020304" pitchFamily="18" charset="0"/>
              </a:rPr>
              <a:t>High Accuracy:</a:t>
            </a:r>
            <a:r>
              <a:rPr lang="en-US" sz="1000" dirty="0">
                <a:latin typeface="Times New Roman" panose="02020603050405020304" pitchFamily="18" charset="0"/>
                <a:cs typeface="Times New Roman" panose="02020603050405020304" pitchFamily="18" charset="0"/>
              </a:rPr>
              <a:t> All models (Naive Bayes, SVM, Random Forest, and </a:t>
            </a:r>
            <a:r>
              <a:rPr lang="en-US" sz="1000" dirty="0" err="1">
                <a:latin typeface="Times New Roman" panose="02020603050405020304" pitchFamily="18" charset="0"/>
                <a:cs typeface="Times New Roman" panose="02020603050405020304" pitchFamily="18" charset="0"/>
              </a:rPr>
              <a:t>XGBoost</a:t>
            </a:r>
            <a:r>
              <a:rPr lang="en-US" sz="1000" dirty="0">
                <a:latin typeface="Times New Roman" panose="02020603050405020304" pitchFamily="18" charset="0"/>
                <a:cs typeface="Times New Roman" panose="02020603050405020304" pitchFamily="18" charset="0"/>
              </a:rPr>
              <a:t>) achieve high accuracy, ranging from 0.9387 to 0.9450. This suggests they are generally making correct predictions on a large portion of the dataset.</a:t>
            </a:r>
          </a:p>
          <a:p>
            <a:r>
              <a:rPr lang="en-US" sz="1000" b="1" dirty="0">
                <a:latin typeface="Times New Roman" panose="02020603050405020304" pitchFamily="18" charset="0"/>
                <a:cs typeface="Times New Roman" panose="02020603050405020304" pitchFamily="18" charset="0"/>
              </a:rPr>
              <a:t>Varying Precision and Recall:</a:t>
            </a:r>
            <a:r>
              <a:rPr lang="en-US" sz="1000" dirty="0">
                <a:latin typeface="Times New Roman" panose="02020603050405020304" pitchFamily="18" charset="0"/>
                <a:cs typeface="Times New Roman" panose="02020603050405020304" pitchFamily="18" charset="0"/>
              </a:rPr>
              <a:t> While accuracy is high, precision and recall vary somewhat between models. This indicates differences in their ability to correctly identify positive cases and minimize false positives/negatives.</a:t>
            </a:r>
          </a:p>
          <a:p>
            <a:r>
              <a:rPr lang="en-US" sz="1000" b="1" dirty="0">
                <a:latin typeface="Times New Roman" panose="02020603050405020304" pitchFamily="18" charset="0"/>
                <a:cs typeface="Times New Roman" panose="02020603050405020304" pitchFamily="18" charset="0"/>
              </a:rPr>
              <a:t>F1-Score as a Balance:</a:t>
            </a:r>
            <a:r>
              <a:rPr lang="en-US" sz="1000" dirty="0">
                <a:latin typeface="Times New Roman" panose="02020603050405020304" pitchFamily="18" charset="0"/>
                <a:cs typeface="Times New Roman" panose="02020603050405020304" pitchFamily="18" charset="0"/>
              </a:rPr>
              <a:t> The F1-score, which balances precision and recall, is generally high for all models, ranging from 0.9091 to 0.9244. This suggests a good overall performance considering both aspects.</a:t>
            </a:r>
          </a:p>
          <a:p>
            <a:r>
              <a:rPr lang="en-US" sz="1000" b="1" dirty="0">
                <a:latin typeface="Times New Roman" panose="02020603050405020304" pitchFamily="18" charset="0"/>
                <a:cs typeface="Times New Roman" panose="02020603050405020304" pitchFamily="18" charset="0"/>
              </a:rPr>
              <a:t>ROC AUC for Discrimination:</a:t>
            </a:r>
            <a:r>
              <a:rPr lang="en-US" sz="1000" dirty="0">
                <a:latin typeface="Times New Roman" panose="02020603050405020304" pitchFamily="18" charset="0"/>
                <a:cs typeface="Times New Roman" panose="02020603050405020304" pitchFamily="18" charset="0"/>
              </a:rPr>
              <a:t> The ROC AUC (Area Under the Receiver Operating Characteristic Curve) values provide insights into the models' ability to discriminate between classes. Higher ROC AUC values indicate better discrimination.</a:t>
            </a:r>
          </a:p>
          <a:p>
            <a:r>
              <a:rPr lang="en-US" sz="1000" b="1" dirty="0">
                <a:latin typeface="Times New Roman" panose="02020603050405020304" pitchFamily="18" charset="0"/>
                <a:cs typeface="Times New Roman" panose="02020603050405020304" pitchFamily="18" charset="0"/>
              </a:rPr>
              <a:t>Model-Specific Interpretation</a:t>
            </a:r>
            <a:endParaRPr lang="en-US" sz="1000" dirty="0">
              <a:latin typeface="Times New Roman" panose="02020603050405020304" pitchFamily="18" charset="0"/>
              <a:cs typeface="Times New Roman" panose="02020603050405020304" pitchFamily="18" charset="0"/>
            </a:endParaRPr>
          </a:p>
          <a:p>
            <a:r>
              <a:rPr lang="en-US" sz="1000" b="1" dirty="0">
                <a:latin typeface="Times New Roman" panose="02020603050405020304" pitchFamily="18" charset="0"/>
                <a:cs typeface="Times New Roman" panose="02020603050405020304" pitchFamily="18" charset="0"/>
              </a:rPr>
              <a:t>Naive Bayes:</a:t>
            </a:r>
            <a:r>
              <a:rPr lang="en-US" sz="1000" dirty="0">
                <a:latin typeface="Times New Roman" panose="02020603050405020304" pitchFamily="18" charset="0"/>
                <a:cs typeface="Times New Roman" panose="02020603050405020304" pitchFamily="18" charset="0"/>
              </a:rPr>
              <a:t> While having high accuracy, it has a lower precision and ROC AUC compared to other models. This suggests it might have a higher rate of false positives.</a:t>
            </a:r>
          </a:p>
          <a:p>
            <a:r>
              <a:rPr lang="en-US" sz="1000" b="1" dirty="0">
                <a:latin typeface="Times New Roman" panose="02020603050405020304" pitchFamily="18" charset="0"/>
                <a:cs typeface="Times New Roman" panose="02020603050405020304" pitchFamily="18" charset="0"/>
              </a:rPr>
              <a:t>SVM:</a:t>
            </a:r>
            <a:r>
              <a:rPr lang="en-US" sz="1000" dirty="0">
                <a:latin typeface="Times New Roman" panose="02020603050405020304" pitchFamily="18" charset="0"/>
                <a:cs typeface="Times New Roman" panose="02020603050405020304" pitchFamily="18" charset="0"/>
              </a:rPr>
              <a:t> Achieves the highest ROC AUC (0.8615), indicating the best ability to distinguish between classes. It also has high precision and recall, suggesting a good balance between minimizing false positives and false negatives.</a:t>
            </a:r>
          </a:p>
          <a:p>
            <a:r>
              <a:rPr lang="en-US" sz="1000" b="1" dirty="0">
                <a:latin typeface="Times New Roman" panose="02020603050405020304" pitchFamily="18" charset="0"/>
                <a:cs typeface="Times New Roman" panose="02020603050405020304" pitchFamily="18" charset="0"/>
              </a:rPr>
              <a:t>Random Forest:</a:t>
            </a:r>
            <a:r>
              <a:rPr lang="en-US" sz="1000" dirty="0">
                <a:latin typeface="Times New Roman" panose="02020603050405020304" pitchFamily="18" charset="0"/>
                <a:cs typeface="Times New Roman" panose="02020603050405020304" pitchFamily="18" charset="0"/>
              </a:rPr>
              <a:t> Has the highest accuracy (0.9450) and high precision, recall, and F1-score. Its ROC AUC is moderate but still indicates good discrimination ability.</a:t>
            </a:r>
          </a:p>
          <a:p>
            <a:r>
              <a:rPr lang="en-US" sz="1000" b="1" dirty="0" err="1">
                <a:latin typeface="Times New Roman" panose="02020603050405020304" pitchFamily="18" charset="0"/>
                <a:cs typeface="Times New Roman" panose="02020603050405020304" pitchFamily="18" charset="0"/>
              </a:rPr>
              <a:t>XGBoost</a:t>
            </a:r>
            <a:r>
              <a:rPr lang="en-US" sz="1000" b="1"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 Shows good accuracy, precision, recall, and F1-score. Its ROC AUC is slightly lower than SVM but still higher than Naive Bayes and Random Forest, indicating good discrimination capability.</a:t>
            </a:r>
          </a:p>
          <a:p>
            <a:r>
              <a:rPr lang="en-US" sz="1000" b="1" dirty="0">
                <a:latin typeface="Times New Roman" panose="02020603050405020304" pitchFamily="18" charset="0"/>
                <a:cs typeface="Times New Roman" panose="02020603050405020304" pitchFamily="18" charset="0"/>
              </a:rPr>
              <a:t>Conclusion</a:t>
            </a:r>
            <a:endParaRPr lang="en-US" sz="1000" dirty="0">
              <a:latin typeface="Times New Roman" panose="02020603050405020304" pitchFamily="18" charset="0"/>
              <a:cs typeface="Times New Roman" panose="02020603050405020304" pitchFamily="18" charset="0"/>
            </a:endParaRPr>
          </a:p>
          <a:p>
            <a:r>
              <a:rPr lang="en-US" sz="1000" dirty="0">
                <a:latin typeface="Times New Roman" panose="02020603050405020304" pitchFamily="18" charset="0"/>
                <a:cs typeface="Times New Roman" panose="02020603050405020304" pitchFamily="18" charset="0"/>
              </a:rPr>
              <a:t>Based on these metrics, without SMOTE and class weights:</a:t>
            </a:r>
          </a:p>
          <a:p>
            <a:r>
              <a:rPr lang="en-US" sz="1000" b="1" dirty="0">
                <a:latin typeface="Times New Roman" panose="02020603050405020304" pitchFamily="18" charset="0"/>
                <a:cs typeface="Times New Roman" panose="02020603050405020304" pitchFamily="18" charset="0"/>
              </a:rPr>
              <a:t>SVM appears to be the most promising model</a:t>
            </a:r>
            <a:r>
              <a:rPr lang="en-US" sz="1000" dirty="0">
                <a:latin typeface="Times New Roman" panose="02020603050405020304" pitchFamily="18" charset="0"/>
                <a:cs typeface="Times New Roman" panose="02020603050405020304" pitchFamily="18" charset="0"/>
              </a:rPr>
              <a:t> due to its high ROC AUC, precision, and recall. This suggests it's best at distinguishing between classes and minimizing both false positives and false negatives.</a:t>
            </a:r>
          </a:p>
          <a:p>
            <a:r>
              <a:rPr lang="en-US" sz="1000" b="1" dirty="0">
                <a:latin typeface="Times New Roman" panose="02020603050405020304" pitchFamily="18" charset="0"/>
                <a:cs typeface="Times New Roman" panose="02020603050405020304" pitchFamily="18" charset="0"/>
              </a:rPr>
              <a:t>Random Forest</a:t>
            </a:r>
            <a:r>
              <a:rPr lang="en-US" sz="1000" dirty="0">
                <a:latin typeface="Times New Roman" panose="02020603050405020304" pitchFamily="18" charset="0"/>
                <a:cs typeface="Times New Roman" panose="02020603050405020304" pitchFamily="18" charset="0"/>
              </a:rPr>
              <a:t> achieves the highest accuracy, indicating overall strong performance, but its slightly lower ROC AUC compared to SVM might suggest a somewhat lower ability to discriminate between classes.</a:t>
            </a:r>
          </a:p>
          <a:p>
            <a:r>
              <a:rPr lang="en-US" sz="1000" b="1" dirty="0" err="1">
                <a:latin typeface="Times New Roman" panose="02020603050405020304" pitchFamily="18" charset="0"/>
                <a:cs typeface="Times New Roman" panose="02020603050405020304" pitchFamily="18" charset="0"/>
              </a:rPr>
              <a:t>XGBoost</a:t>
            </a:r>
            <a:r>
              <a:rPr lang="en-US" sz="1000" dirty="0">
                <a:latin typeface="Times New Roman" panose="02020603050405020304" pitchFamily="18" charset="0"/>
                <a:cs typeface="Times New Roman" panose="02020603050405020304" pitchFamily="18" charset="0"/>
              </a:rPr>
              <a:t> also shows strong performance, with good metrics across the board.</a:t>
            </a:r>
          </a:p>
          <a:p>
            <a:r>
              <a:rPr lang="en-US" sz="1000" b="1" dirty="0">
                <a:latin typeface="Times New Roman" panose="02020603050405020304" pitchFamily="18" charset="0"/>
                <a:cs typeface="Times New Roman" panose="02020603050405020304" pitchFamily="18" charset="0"/>
              </a:rPr>
              <a:t>Naive Bayes</a:t>
            </a:r>
            <a:r>
              <a:rPr lang="en-US" sz="1000" dirty="0">
                <a:latin typeface="Times New Roman" panose="02020603050405020304" pitchFamily="18" charset="0"/>
                <a:cs typeface="Times New Roman" panose="02020603050405020304" pitchFamily="18" charset="0"/>
              </a:rPr>
              <a:t>, while achieving high accuracy, might be less ideal due to its lower precision and ROC AUC compared to other models.</a:t>
            </a:r>
          </a:p>
          <a:p>
            <a:r>
              <a:rPr lang="en-US" sz="1000" dirty="0">
                <a:latin typeface="Times New Roman" panose="02020603050405020304" pitchFamily="18" charset="0"/>
                <a:cs typeface="Times New Roman" panose="02020603050405020304" pitchFamily="18" charset="0"/>
              </a:rPr>
              <a:t>It's important to consider the specific requirements of your application and the trade-offs between different metrics when selecting the best model for your task. For example, if minimizing false positives is critical, SVM might be preferred due to its high precision. If overall accuracy is the primary concern, Random Forest might be the better choice.</a:t>
            </a:r>
          </a:p>
          <a:p>
            <a:endParaRPr lang="en-IN" sz="1000" dirty="0">
              <a:latin typeface="Times New Roman" panose="02020603050405020304" pitchFamily="18" charset="0"/>
              <a:cs typeface="Times New Roman" panose="02020603050405020304" pitchFamily="18" charset="0"/>
            </a:endParaRPr>
          </a:p>
        </p:txBody>
      </p:sp>
      <p:sp>
        <p:nvSpPr>
          <p:cNvPr id="6" name="Rectangle 5"/>
          <p:cNvSpPr/>
          <p:nvPr/>
        </p:nvSpPr>
        <p:spPr>
          <a:xfrm>
            <a:off x="6215974" y="1927911"/>
            <a:ext cx="4821677" cy="40934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endParaRPr lang="en-IN" sz="1000" b="1" dirty="0">
              <a:latin typeface="Times New Roman" panose="02020603050405020304" pitchFamily="18" charset="0"/>
              <a:cs typeface="Times New Roman" panose="02020603050405020304" pitchFamily="18" charset="0"/>
            </a:endParaRPr>
          </a:p>
          <a:p>
            <a:r>
              <a:rPr lang="en-IN" sz="1000" b="1" dirty="0">
                <a:latin typeface="Times New Roman" panose="02020603050405020304" pitchFamily="18" charset="0"/>
                <a:cs typeface="Times New Roman" panose="02020603050405020304" pitchFamily="18" charset="0"/>
              </a:rPr>
              <a:t>Performance Metrics without SMOTE and Class Weights:</a:t>
            </a:r>
          </a:p>
          <a:p>
            <a:r>
              <a:rPr lang="en-IN" sz="1000" b="1" dirty="0">
                <a:latin typeface="Times New Roman" panose="02020603050405020304" pitchFamily="18" charset="0"/>
                <a:cs typeface="Times New Roman" panose="02020603050405020304" pitchFamily="18" charset="0"/>
              </a:rPr>
              <a:t>Naive Bayes:</a:t>
            </a:r>
          </a:p>
          <a:p>
            <a:r>
              <a:rPr lang="en-IN" sz="1000" b="1" dirty="0">
                <a:latin typeface="Times New Roman" panose="02020603050405020304" pitchFamily="18" charset="0"/>
                <a:cs typeface="Times New Roman" panose="02020603050405020304" pitchFamily="18" charset="0"/>
              </a:rPr>
              <a:t>  Accuracy: 0.9387</a:t>
            </a:r>
          </a:p>
          <a:p>
            <a:r>
              <a:rPr lang="en-IN" sz="1000" b="1" dirty="0">
                <a:latin typeface="Times New Roman" panose="02020603050405020304" pitchFamily="18" charset="0"/>
                <a:cs typeface="Times New Roman" panose="02020603050405020304" pitchFamily="18" charset="0"/>
              </a:rPr>
              <a:t>  Precision: 0.8813</a:t>
            </a:r>
          </a:p>
          <a:p>
            <a:r>
              <a:rPr lang="en-IN" sz="1000" b="1" dirty="0">
                <a:latin typeface="Times New Roman" panose="02020603050405020304" pitchFamily="18" charset="0"/>
                <a:cs typeface="Times New Roman" panose="02020603050405020304" pitchFamily="18" charset="0"/>
              </a:rPr>
              <a:t>  Recall: 0.9387</a:t>
            </a:r>
          </a:p>
          <a:p>
            <a:r>
              <a:rPr lang="en-IN" sz="1000" b="1" dirty="0">
                <a:latin typeface="Times New Roman" panose="02020603050405020304" pitchFamily="18" charset="0"/>
                <a:cs typeface="Times New Roman" panose="02020603050405020304" pitchFamily="18" charset="0"/>
              </a:rPr>
              <a:t>  F1-score: 0.9091</a:t>
            </a:r>
          </a:p>
          <a:p>
            <a:r>
              <a:rPr lang="en-IN" sz="1000" b="1" dirty="0">
                <a:latin typeface="Times New Roman" panose="02020603050405020304" pitchFamily="18" charset="0"/>
                <a:cs typeface="Times New Roman" panose="02020603050405020304" pitchFamily="18" charset="0"/>
              </a:rPr>
              <a:t>  ROC AUC: 0.7040</a:t>
            </a:r>
          </a:p>
          <a:p>
            <a:r>
              <a:rPr lang="en-IN" sz="1000" b="1" dirty="0">
                <a:latin typeface="Times New Roman" panose="02020603050405020304" pitchFamily="18" charset="0"/>
                <a:cs typeface="Times New Roman" panose="02020603050405020304" pitchFamily="18" charset="0"/>
              </a:rPr>
              <a:t>SVM:</a:t>
            </a:r>
          </a:p>
          <a:p>
            <a:r>
              <a:rPr lang="en-IN" sz="1000" b="1" dirty="0">
                <a:latin typeface="Times New Roman" panose="02020603050405020304" pitchFamily="18" charset="0"/>
                <a:cs typeface="Times New Roman" panose="02020603050405020304" pitchFamily="18" charset="0"/>
              </a:rPr>
              <a:t>  Accuracy: 0.9437</a:t>
            </a:r>
          </a:p>
          <a:p>
            <a:r>
              <a:rPr lang="en-IN" sz="1000" b="1" dirty="0">
                <a:latin typeface="Times New Roman" panose="02020603050405020304" pitchFamily="18" charset="0"/>
                <a:cs typeface="Times New Roman" panose="02020603050405020304" pitchFamily="18" charset="0"/>
              </a:rPr>
              <a:t>  Precision: 0.9469</a:t>
            </a:r>
          </a:p>
          <a:p>
            <a:r>
              <a:rPr lang="en-IN" sz="1000" b="1" dirty="0">
                <a:latin typeface="Times New Roman" panose="02020603050405020304" pitchFamily="18" charset="0"/>
                <a:cs typeface="Times New Roman" panose="02020603050405020304" pitchFamily="18" charset="0"/>
              </a:rPr>
              <a:t>  Recall: 0.9437</a:t>
            </a:r>
          </a:p>
          <a:p>
            <a:r>
              <a:rPr lang="en-IN" sz="1000" b="1" dirty="0">
                <a:latin typeface="Times New Roman" panose="02020603050405020304" pitchFamily="18" charset="0"/>
                <a:cs typeface="Times New Roman" panose="02020603050405020304" pitchFamily="18" charset="0"/>
              </a:rPr>
              <a:t>  F1-score: 0.9205</a:t>
            </a:r>
          </a:p>
          <a:p>
            <a:r>
              <a:rPr lang="en-IN" sz="1000" b="1" dirty="0">
                <a:latin typeface="Times New Roman" panose="02020603050405020304" pitchFamily="18" charset="0"/>
                <a:cs typeface="Times New Roman" panose="02020603050405020304" pitchFamily="18" charset="0"/>
              </a:rPr>
              <a:t>  ROC AUC: 0.8615</a:t>
            </a:r>
          </a:p>
          <a:p>
            <a:r>
              <a:rPr lang="en-IN" sz="1000" b="1" dirty="0">
                <a:latin typeface="Times New Roman" panose="02020603050405020304" pitchFamily="18" charset="0"/>
                <a:cs typeface="Times New Roman" panose="02020603050405020304" pitchFamily="18" charset="0"/>
              </a:rPr>
              <a:t>Random Forest:</a:t>
            </a:r>
          </a:p>
          <a:p>
            <a:r>
              <a:rPr lang="en-IN" sz="1000" b="1" dirty="0">
                <a:latin typeface="Times New Roman" panose="02020603050405020304" pitchFamily="18" charset="0"/>
                <a:cs typeface="Times New Roman" panose="02020603050405020304" pitchFamily="18" charset="0"/>
              </a:rPr>
              <a:t>  Accuracy: 0.9450</a:t>
            </a:r>
          </a:p>
          <a:p>
            <a:r>
              <a:rPr lang="en-IN" sz="1000" b="1" dirty="0">
                <a:latin typeface="Times New Roman" panose="02020603050405020304" pitchFamily="18" charset="0"/>
                <a:cs typeface="Times New Roman" panose="02020603050405020304" pitchFamily="18" charset="0"/>
              </a:rPr>
              <a:t>  Precision: 0.9320</a:t>
            </a:r>
          </a:p>
          <a:p>
            <a:r>
              <a:rPr lang="en-IN" sz="1000" b="1" dirty="0">
                <a:latin typeface="Times New Roman" panose="02020603050405020304" pitchFamily="18" charset="0"/>
                <a:cs typeface="Times New Roman" panose="02020603050405020304" pitchFamily="18" charset="0"/>
              </a:rPr>
              <a:t>  Recall: 0.9450</a:t>
            </a:r>
          </a:p>
          <a:p>
            <a:r>
              <a:rPr lang="en-IN" sz="1000" b="1" dirty="0">
                <a:latin typeface="Times New Roman" panose="02020603050405020304" pitchFamily="18" charset="0"/>
                <a:cs typeface="Times New Roman" panose="02020603050405020304" pitchFamily="18" charset="0"/>
              </a:rPr>
              <a:t>  F1-score: 0.9244</a:t>
            </a:r>
          </a:p>
          <a:p>
            <a:r>
              <a:rPr lang="en-IN" sz="1000" b="1" dirty="0">
                <a:latin typeface="Times New Roman" panose="02020603050405020304" pitchFamily="18" charset="0"/>
                <a:cs typeface="Times New Roman" panose="02020603050405020304" pitchFamily="18" charset="0"/>
              </a:rPr>
              <a:t>  ROC AUC: 0.7787</a:t>
            </a:r>
          </a:p>
          <a:p>
            <a:r>
              <a:rPr lang="en-IN" sz="1000" b="1" dirty="0" err="1">
                <a:latin typeface="Times New Roman" panose="02020603050405020304" pitchFamily="18" charset="0"/>
                <a:cs typeface="Times New Roman" panose="02020603050405020304" pitchFamily="18" charset="0"/>
              </a:rPr>
              <a:t>XGBoost</a:t>
            </a:r>
            <a:r>
              <a:rPr lang="en-IN" sz="1000" b="1" dirty="0">
                <a:latin typeface="Times New Roman" panose="02020603050405020304" pitchFamily="18" charset="0"/>
                <a:cs typeface="Times New Roman" panose="02020603050405020304" pitchFamily="18" charset="0"/>
              </a:rPr>
              <a:t>:</a:t>
            </a:r>
          </a:p>
          <a:p>
            <a:r>
              <a:rPr lang="en-IN" sz="1000" b="1" dirty="0">
                <a:latin typeface="Times New Roman" panose="02020603050405020304" pitchFamily="18" charset="0"/>
                <a:cs typeface="Times New Roman" panose="02020603050405020304" pitchFamily="18" charset="0"/>
              </a:rPr>
              <a:t>  Accuracy: 0.9400</a:t>
            </a:r>
          </a:p>
          <a:p>
            <a:r>
              <a:rPr lang="en-IN" sz="1000" b="1" dirty="0">
                <a:latin typeface="Times New Roman" panose="02020603050405020304" pitchFamily="18" charset="0"/>
                <a:cs typeface="Times New Roman" panose="02020603050405020304" pitchFamily="18" charset="0"/>
              </a:rPr>
              <a:t>  Precision: 0.9193</a:t>
            </a:r>
          </a:p>
          <a:p>
            <a:r>
              <a:rPr lang="en-IN" sz="1000" b="1" dirty="0">
                <a:latin typeface="Times New Roman" panose="02020603050405020304" pitchFamily="18" charset="0"/>
                <a:cs typeface="Times New Roman" panose="02020603050405020304" pitchFamily="18" charset="0"/>
              </a:rPr>
              <a:t>  Recall: 0.9400</a:t>
            </a:r>
          </a:p>
          <a:p>
            <a:r>
              <a:rPr lang="en-IN" sz="1000" b="1" dirty="0">
                <a:latin typeface="Times New Roman" panose="02020603050405020304" pitchFamily="18" charset="0"/>
                <a:cs typeface="Times New Roman" panose="02020603050405020304" pitchFamily="18" charset="0"/>
              </a:rPr>
              <a:t>  F1-score: 0.9233</a:t>
            </a:r>
          </a:p>
          <a:p>
            <a:r>
              <a:rPr lang="en-IN" sz="1000" b="1" dirty="0">
                <a:latin typeface="Times New Roman" panose="02020603050405020304" pitchFamily="18" charset="0"/>
                <a:cs typeface="Times New Roman" panose="02020603050405020304" pitchFamily="18" charset="0"/>
              </a:rPr>
              <a:t>  ROC AUC: 0.8096</a:t>
            </a:r>
          </a:p>
        </p:txBody>
      </p:sp>
      <p:sp>
        <p:nvSpPr>
          <p:cNvPr id="7" name="TextBox 6"/>
          <p:cNvSpPr txBox="1"/>
          <p:nvPr/>
        </p:nvSpPr>
        <p:spPr>
          <a:xfrm>
            <a:off x="9786025" y="400986"/>
            <a:ext cx="1977957"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hlinkClick r:id="rId2" action="ppaction://hlinksldjump"/>
              </a:rPr>
              <a:t>Master Side Link</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27459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8069" y="1656181"/>
            <a:ext cx="6096000" cy="4801314"/>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r>
              <a:rPr lang="en-US" sz="900" b="1" dirty="0">
                <a:solidFill>
                  <a:srgbClr val="1F1F1F"/>
                </a:solidFill>
                <a:latin typeface="Times New Roman" panose="02020603050405020304" pitchFamily="18" charset="0"/>
                <a:cs typeface="Times New Roman" panose="02020603050405020304" pitchFamily="18" charset="0"/>
              </a:rPr>
              <a:t>Overall Observations</a:t>
            </a:r>
            <a:endParaRPr lang="en-US" sz="900" dirty="0">
              <a:solidFill>
                <a:srgbClr val="1F1F1F"/>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900" b="1" dirty="0">
                <a:solidFill>
                  <a:srgbClr val="1F1F1F"/>
                </a:solidFill>
                <a:latin typeface="Times New Roman" panose="02020603050405020304" pitchFamily="18" charset="0"/>
                <a:cs typeface="Times New Roman" panose="02020603050405020304" pitchFamily="18" charset="0"/>
              </a:rPr>
              <a:t>Significant Improvement:</a:t>
            </a:r>
            <a:r>
              <a:rPr lang="en-US" sz="900" dirty="0">
                <a:solidFill>
                  <a:srgbClr val="1F1F1F"/>
                </a:solidFill>
                <a:latin typeface="Times New Roman" panose="02020603050405020304" pitchFamily="18" charset="0"/>
                <a:cs typeface="Times New Roman" panose="02020603050405020304" pitchFamily="18" charset="0"/>
              </a:rPr>
              <a:t> Compared to the models without SMOTE and class weights, there is a notable improvement in performance, particularly for SVM, Random Forest, and </a:t>
            </a:r>
            <a:r>
              <a:rPr lang="en-US" sz="900" dirty="0" err="1">
                <a:solidFill>
                  <a:srgbClr val="1F1F1F"/>
                </a:solidFill>
                <a:latin typeface="Times New Roman" panose="02020603050405020304" pitchFamily="18" charset="0"/>
                <a:cs typeface="Times New Roman" panose="02020603050405020304" pitchFamily="18" charset="0"/>
              </a:rPr>
              <a:t>XGBoost</a:t>
            </a:r>
            <a:r>
              <a:rPr lang="en-US" sz="900" dirty="0">
                <a:solidFill>
                  <a:srgbClr val="1F1F1F"/>
                </a:solidFill>
                <a:latin typeface="Times New Roman" panose="02020603050405020304" pitchFamily="18" charset="0"/>
                <a:cs typeface="Times New Roman" panose="02020603050405020304" pitchFamily="18" charset="0"/>
              </a:rPr>
              <a:t>. This indicates that addressing class imbalance has had a positive impact.</a:t>
            </a:r>
          </a:p>
          <a:p>
            <a:pPr>
              <a:buFont typeface="Arial" panose="020B0604020202020204" pitchFamily="34" charset="0"/>
              <a:buChar char="•"/>
            </a:pPr>
            <a:r>
              <a:rPr lang="en-US" sz="900" b="1" dirty="0">
                <a:solidFill>
                  <a:srgbClr val="1F1F1F"/>
                </a:solidFill>
                <a:latin typeface="Times New Roman" panose="02020603050405020304" pitchFamily="18" charset="0"/>
                <a:cs typeface="Times New Roman" panose="02020603050405020304" pitchFamily="18" charset="0"/>
              </a:rPr>
              <a:t>High Accuracy, Precision, Recall, and F1-score:</a:t>
            </a:r>
            <a:r>
              <a:rPr lang="en-US" sz="900" dirty="0">
                <a:solidFill>
                  <a:srgbClr val="1F1F1F"/>
                </a:solidFill>
                <a:latin typeface="Times New Roman" panose="02020603050405020304" pitchFamily="18" charset="0"/>
                <a:cs typeface="Times New Roman" panose="02020603050405020304" pitchFamily="18" charset="0"/>
              </a:rPr>
              <a:t> All models achieve high values for accuracy, precision, recall, and F1-score, ranging from 0.7293 for Naive Bayes to 0.9840 for </a:t>
            </a:r>
            <a:r>
              <a:rPr lang="en-US" sz="900" dirty="0" err="1">
                <a:solidFill>
                  <a:srgbClr val="1F1F1F"/>
                </a:solidFill>
                <a:latin typeface="Times New Roman" panose="02020603050405020304" pitchFamily="18" charset="0"/>
                <a:cs typeface="Times New Roman" panose="02020603050405020304" pitchFamily="18" charset="0"/>
              </a:rPr>
              <a:t>XGBoost</a:t>
            </a:r>
            <a:r>
              <a:rPr lang="en-US" sz="900" dirty="0">
                <a:solidFill>
                  <a:srgbClr val="1F1F1F"/>
                </a:solidFill>
                <a:latin typeface="Times New Roman" panose="02020603050405020304" pitchFamily="18" charset="0"/>
                <a:cs typeface="Times New Roman" panose="02020603050405020304" pitchFamily="18" charset="0"/>
              </a:rPr>
              <a:t>. This suggests strong overall performance and a good balance between minimizing false positives and false negatives.</a:t>
            </a:r>
          </a:p>
          <a:p>
            <a:pPr>
              <a:buFont typeface="Arial" panose="020B0604020202020204" pitchFamily="34" charset="0"/>
              <a:buChar char="•"/>
            </a:pPr>
            <a:r>
              <a:rPr lang="en-US" sz="900" b="1" dirty="0">
                <a:solidFill>
                  <a:srgbClr val="1F1F1F"/>
                </a:solidFill>
                <a:latin typeface="Times New Roman" panose="02020603050405020304" pitchFamily="18" charset="0"/>
                <a:cs typeface="Times New Roman" panose="02020603050405020304" pitchFamily="18" charset="0"/>
              </a:rPr>
              <a:t>Exceptional ROC AUC:</a:t>
            </a:r>
            <a:r>
              <a:rPr lang="en-US" sz="900" dirty="0">
                <a:solidFill>
                  <a:srgbClr val="1F1F1F"/>
                </a:solidFill>
                <a:latin typeface="Times New Roman" panose="02020603050405020304" pitchFamily="18" charset="0"/>
                <a:cs typeface="Times New Roman" panose="02020603050405020304" pitchFamily="18" charset="0"/>
              </a:rPr>
              <a:t> The ROC AUC values are exceptionally high for all models, ranging from 0.8993 for Naive Bayes to 0.9987 for SVM. This indicates outstanding discrimination ability, suggesting the models are very effective at distinguishing between classes.</a:t>
            </a:r>
          </a:p>
          <a:p>
            <a:r>
              <a:rPr lang="en-US" sz="900" b="1" dirty="0">
                <a:solidFill>
                  <a:srgbClr val="1F1F1F"/>
                </a:solidFill>
                <a:latin typeface="Times New Roman" panose="02020603050405020304" pitchFamily="18" charset="0"/>
                <a:cs typeface="Times New Roman" panose="02020603050405020304" pitchFamily="18" charset="0"/>
              </a:rPr>
              <a:t>Model-Specific Interpretation</a:t>
            </a:r>
            <a:endParaRPr lang="en-US" sz="900" dirty="0">
              <a:solidFill>
                <a:srgbClr val="1F1F1F"/>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900" b="1" dirty="0">
                <a:solidFill>
                  <a:srgbClr val="1F1F1F"/>
                </a:solidFill>
                <a:latin typeface="Times New Roman" panose="02020603050405020304" pitchFamily="18" charset="0"/>
                <a:cs typeface="Times New Roman" panose="02020603050405020304" pitchFamily="18" charset="0"/>
              </a:rPr>
              <a:t>Naive Bayes:</a:t>
            </a:r>
            <a:r>
              <a:rPr lang="en-US" sz="900" dirty="0">
                <a:solidFill>
                  <a:srgbClr val="1F1F1F"/>
                </a:solidFill>
                <a:latin typeface="Times New Roman" panose="02020603050405020304" pitchFamily="18" charset="0"/>
                <a:cs typeface="Times New Roman" panose="02020603050405020304" pitchFamily="18" charset="0"/>
              </a:rPr>
              <a:t> While showing improvement compared to without SMOTE and class weights, it still has lower performance than other models in terms of accuracy, precision, recall, and F1-score. However, its ROC AUC is still high (0.8993), indicating good discrimination.</a:t>
            </a:r>
          </a:p>
          <a:p>
            <a:pPr>
              <a:buFont typeface="Arial" panose="020B0604020202020204" pitchFamily="34" charset="0"/>
              <a:buChar char="•"/>
            </a:pPr>
            <a:r>
              <a:rPr lang="en-US" sz="900" b="1" dirty="0">
                <a:solidFill>
                  <a:srgbClr val="1F1F1F"/>
                </a:solidFill>
                <a:latin typeface="Times New Roman" panose="02020603050405020304" pitchFamily="18" charset="0"/>
                <a:cs typeface="Times New Roman" panose="02020603050405020304" pitchFamily="18" charset="0"/>
              </a:rPr>
              <a:t>SVM:</a:t>
            </a:r>
            <a:r>
              <a:rPr lang="en-US" sz="900" dirty="0">
                <a:solidFill>
                  <a:srgbClr val="1F1F1F"/>
                </a:solidFill>
                <a:latin typeface="Times New Roman" panose="02020603050405020304" pitchFamily="18" charset="0"/>
                <a:cs typeface="Times New Roman" panose="02020603050405020304" pitchFamily="18" charset="0"/>
              </a:rPr>
              <a:t> Achieves exceptional performance across all metrics, with very high accuracy, precision, recall, F1-score, and an outstanding ROC AUC (0.9987). This suggests SVM is highly effective in classifying instances and distinguishing between classes after addressing class imbalance.</a:t>
            </a:r>
          </a:p>
          <a:p>
            <a:pPr>
              <a:buFont typeface="Arial" panose="020B0604020202020204" pitchFamily="34" charset="0"/>
              <a:buChar char="•"/>
            </a:pPr>
            <a:r>
              <a:rPr lang="en-US" sz="900" b="1" dirty="0">
                <a:solidFill>
                  <a:srgbClr val="1F1F1F"/>
                </a:solidFill>
                <a:latin typeface="Times New Roman" panose="02020603050405020304" pitchFamily="18" charset="0"/>
                <a:cs typeface="Times New Roman" panose="02020603050405020304" pitchFamily="18" charset="0"/>
              </a:rPr>
              <a:t>Random Forest:</a:t>
            </a:r>
            <a:r>
              <a:rPr lang="en-US" sz="900" dirty="0">
                <a:solidFill>
                  <a:srgbClr val="1F1F1F"/>
                </a:solidFill>
                <a:latin typeface="Times New Roman" panose="02020603050405020304" pitchFamily="18" charset="0"/>
                <a:cs typeface="Times New Roman" panose="02020603050405020304" pitchFamily="18" charset="0"/>
              </a:rPr>
              <a:t> Also shows exceptional performance, with accuracy, precision, recall, and F1-score all above 0.97 and a very high ROC AUC (0.9984). This indicates strong overall performance and excellent discrimination ability.</a:t>
            </a:r>
          </a:p>
          <a:p>
            <a:pPr>
              <a:buFont typeface="Arial" panose="020B0604020202020204" pitchFamily="34" charset="0"/>
              <a:buChar char="•"/>
            </a:pPr>
            <a:r>
              <a:rPr lang="en-US" sz="900" b="1" dirty="0" err="1">
                <a:solidFill>
                  <a:srgbClr val="1F1F1F"/>
                </a:solidFill>
                <a:latin typeface="Times New Roman" panose="02020603050405020304" pitchFamily="18" charset="0"/>
                <a:cs typeface="Times New Roman" panose="02020603050405020304" pitchFamily="18" charset="0"/>
              </a:rPr>
              <a:t>XGBoost</a:t>
            </a:r>
            <a:r>
              <a:rPr lang="en-US" sz="900" b="1" dirty="0">
                <a:solidFill>
                  <a:srgbClr val="1F1F1F"/>
                </a:solidFill>
                <a:latin typeface="Times New Roman" panose="02020603050405020304" pitchFamily="18" charset="0"/>
                <a:cs typeface="Times New Roman" panose="02020603050405020304" pitchFamily="18" charset="0"/>
              </a:rPr>
              <a:t>:</a:t>
            </a:r>
            <a:r>
              <a:rPr lang="en-US" sz="900" dirty="0">
                <a:solidFill>
                  <a:srgbClr val="1F1F1F"/>
                </a:solidFill>
                <a:latin typeface="Times New Roman" panose="02020603050405020304" pitchFamily="18" charset="0"/>
                <a:cs typeface="Times New Roman" panose="02020603050405020304" pitchFamily="18" charset="0"/>
              </a:rPr>
              <a:t> Performs the best overall, achieving the highest accuracy (0.9840), precision, recall, and F1-score. Its ROC AUC is slightly lower than SVM and Random Forest but still exceptionally high (0.9982), indicating outstanding discrimination capability.</a:t>
            </a:r>
          </a:p>
          <a:p>
            <a:r>
              <a:rPr lang="en-US" sz="900" b="1" dirty="0">
                <a:solidFill>
                  <a:srgbClr val="1F1F1F"/>
                </a:solidFill>
                <a:latin typeface="Times New Roman" panose="02020603050405020304" pitchFamily="18" charset="0"/>
                <a:cs typeface="Times New Roman" panose="02020603050405020304" pitchFamily="18" charset="0"/>
              </a:rPr>
              <a:t>Conclusion</a:t>
            </a:r>
            <a:endParaRPr lang="en-US" sz="900" dirty="0">
              <a:solidFill>
                <a:srgbClr val="1F1F1F"/>
              </a:solidFill>
              <a:latin typeface="Times New Roman" panose="02020603050405020304" pitchFamily="18" charset="0"/>
              <a:cs typeface="Times New Roman" panose="02020603050405020304" pitchFamily="18" charset="0"/>
            </a:endParaRPr>
          </a:p>
          <a:p>
            <a:r>
              <a:rPr lang="en-US" sz="900" dirty="0">
                <a:solidFill>
                  <a:srgbClr val="1F1F1F"/>
                </a:solidFill>
                <a:latin typeface="Times New Roman" panose="02020603050405020304" pitchFamily="18" charset="0"/>
                <a:cs typeface="Times New Roman" panose="02020603050405020304" pitchFamily="18" charset="0"/>
              </a:rPr>
              <a:t>Based on these metrics, with SMOTE and class weights:</a:t>
            </a:r>
          </a:p>
          <a:p>
            <a:pPr>
              <a:buFont typeface="Arial" panose="020B0604020202020204" pitchFamily="34" charset="0"/>
              <a:buChar char="•"/>
            </a:pPr>
            <a:r>
              <a:rPr lang="en-US" sz="900" b="1" dirty="0" err="1">
                <a:solidFill>
                  <a:srgbClr val="1F1F1F"/>
                </a:solidFill>
                <a:latin typeface="Times New Roman" panose="02020603050405020304" pitchFamily="18" charset="0"/>
                <a:cs typeface="Times New Roman" panose="02020603050405020304" pitchFamily="18" charset="0"/>
              </a:rPr>
              <a:t>XGBoost</a:t>
            </a:r>
            <a:r>
              <a:rPr lang="en-US" sz="900" b="1" dirty="0">
                <a:solidFill>
                  <a:srgbClr val="1F1F1F"/>
                </a:solidFill>
                <a:latin typeface="Times New Roman" panose="02020603050405020304" pitchFamily="18" charset="0"/>
                <a:cs typeface="Times New Roman" panose="02020603050405020304" pitchFamily="18" charset="0"/>
              </a:rPr>
              <a:t> appears to be the best-performing model overall</a:t>
            </a:r>
            <a:r>
              <a:rPr lang="en-US" sz="900" dirty="0">
                <a:solidFill>
                  <a:srgbClr val="1F1F1F"/>
                </a:solidFill>
                <a:latin typeface="Times New Roman" panose="02020603050405020304" pitchFamily="18" charset="0"/>
                <a:cs typeface="Times New Roman" panose="02020603050405020304" pitchFamily="18" charset="0"/>
              </a:rPr>
              <a:t>, achieving the highest accuracy, precision, recall, and F1-score.</a:t>
            </a:r>
          </a:p>
          <a:p>
            <a:pPr>
              <a:buFont typeface="Arial" panose="020B0604020202020204" pitchFamily="34" charset="0"/>
              <a:buChar char="•"/>
            </a:pPr>
            <a:r>
              <a:rPr lang="en-US" sz="900" b="1" dirty="0">
                <a:solidFill>
                  <a:srgbClr val="1F1F1F"/>
                </a:solidFill>
                <a:latin typeface="Times New Roman" panose="02020603050405020304" pitchFamily="18" charset="0"/>
                <a:cs typeface="Times New Roman" panose="02020603050405020304" pitchFamily="18" charset="0"/>
              </a:rPr>
              <a:t>SVM and Random Forest</a:t>
            </a:r>
            <a:r>
              <a:rPr lang="en-US" sz="900" dirty="0">
                <a:solidFill>
                  <a:srgbClr val="1F1F1F"/>
                </a:solidFill>
                <a:latin typeface="Times New Roman" panose="02020603050405020304" pitchFamily="18" charset="0"/>
                <a:cs typeface="Times New Roman" panose="02020603050405020304" pitchFamily="18" charset="0"/>
              </a:rPr>
              <a:t> are also strong contenders, demonstrating exceptional performance across all metrics.</a:t>
            </a:r>
          </a:p>
          <a:p>
            <a:pPr>
              <a:buFont typeface="Arial" panose="020B0604020202020204" pitchFamily="34" charset="0"/>
              <a:buChar char="•"/>
            </a:pPr>
            <a:r>
              <a:rPr lang="en-US" sz="900" b="1" dirty="0">
                <a:solidFill>
                  <a:srgbClr val="1F1F1F"/>
                </a:solidFill>
                <a:latin typeface="Times New Roman" panose="02020603050405020304" pitchFamily="18" charset="0"/>
                <a:cs typeface="Times New Roman" panose="02020603050405020304" pitchFamily="18" charset="0"/>
              </a:rPr>
              <a:t>Naive Bayes</a:t>
            </a:r>
            <a:r>
              <a:rPr lang="en-US" sz="900" dirty="0">
                <a:solidFill>
                  <a:srgbClr val="1F1F1F"/>
                </a:solidFill>
                <a:latin typeface="Times New Roman" panose="02020603050405020304" pitchFamily="18" charset="0"/>
                <a:cs typeface="Times New Roman" panose="02020603050405020304" pitchFamily="18" charset="0"/>
              </a:rPr>
              <a:t> shows improvement compared to without SMOTE and class weights, but its performance is still lower than other models.</a:t>
            </a:r>
          </a:p>
          <a:p>
            <a:r>
              <a:rPr lang="en-US" sz="900" dirty="0">
                <a:solidFill>
                  <a:srgbClr val="1F1F1F"/>
                </a:solidFill>
                <a:latin typeface="Times New Roman" panose="02020603050405020304" pitchFamily="18" charset="0"/>
                <a:cs typeface="Times New Roman" panose="02020603050405020304" pitchFamily="18" charset="0"/>
              </a:rPr>
              <a:t>The application of SMOTE and class weights has significantly enhanced the models' ability to handle class imbalance and has resulted in substantial performance improvements. This suggests that addressing class imbalance is crucial for achieving accurate and reliable sentiment classification in this case.</a:t>
            </a:r>
          </a:p>
          <a:p>
            <a:r>
              <a:rPr lang="en-US" sz="900" dirty="0">
                <a:solidFill>
                  <a:srgbClr val="1F1F1F"/>
                </a:solidFill>
                <a:latin typeface="Times New Roman" panose="02020603050405020304" pitchFamily="18" charset="0"/>
                <a:cs typeface="Times New Roman" panose="02020603050405020304" pitchFamily="18" charset="0"/>
              </a:rPr>
              <a:t>In selecting the best model for your task, consider the specific requirements and trade-offs between different metrics. However, based on these results, </a:t>
            </a:r>
            <a:r>
              <a:rPr lang="en-US" sz="900" b="1" dirty="0" err="1">
                <a:solidFill>
                  <a:srgbClr val="1F1F1F"/>
                </a:solidFill>
                <a:latin typeface="Times New Roman" panose="02020603050405020304" pitchFamily="18" charset="0"/>
                <a:cs typeface="Times New Roman" panose="02020603050405020304" pitchFamily="18" charset="0"/>
              </a:rPr>
              <a:t>XGBoost</a:t>
            </a:r>
            <a:r>
              <a:rPr lang="en-US" sz="900" b="1" dirty="0">
                <a:solidFill>
                  <a:srgbClr val="1F1F1F"/>
                </a:solidFill>
                <a:latin typeface="Times New Roman" panose="02020603050405020304" pitchFamily="18" charset="0"/>
                <a:cs typeface="Times New Roman" panose="02020603050405020304" pitchFamily="18" charset="0"/>
              </a:rPr>
              <a:t>, SVM, and Random Forest all emerge as strong candidates</a:t>
            </a:r>
            <a:r>
              <a:rPr lang="en-US" sz="900" dirty="0">
                <a:solidFill>
                  <a:srgbClr val="1F1F1F"/>
                </a:solidFill>
                <a:latin typeface="Times New Roman" panose="02020603050405020304" pitchFamily="18" charset="0"/>
                <a:cs typeface="Times New Roman" panose="02020603050405020304" pitchFamily="18" charset="0"/>
              </a:rPr>
              <a:t>, with </a:t>
            </a:r>
            <a:r>
              <a:rPr lang="en-US" sz="900" dirty="0" err="1">
                <a:solidFill>
                  <a:srgbClr val="1F1F1F"/>
                </a:solidFill>
                <a:latin typeface="Times New Roman" panose="02020603050405020304" pitchFamily="18" charset="0"/>
                <a:cs typeface="Times New Roman" panose="02020603050405020304" pitchFamily="18" charset="0"/>
              </a:rPr>
              <a:t>XGBoost</a:t>
            </a:r>
            <a:r>
              <a:rPr lang="en-US" sz="900" dirty="0">
                <a:solidFill>
                  <a:srgbClr val="1F1F1F"/>
                </a:solidFill>
                <a:latin typeface="Times New Roman" panose="02020603050405020304" pitchFamily="18" charset="0"/>
                <a:cs typeface="Times New Roman" panose="02020603050405020304" pitchFamily="18" charset="0"/>
              </a:rPr>
              <a:t> having a slight edge in overall performance.</a:t>
            </a:r>
            <a:endParaRPr lang="en-US" sz="900" b="0" i="0" dirty="0">
              <a:solidFill>
                <a:srgbClr val="1F1F1F"/>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6284069" y="3573487"/>
            <a:ext cx="4766552" cy="178510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1100" b="1" dirty="0">
                <a:solidFill>
                  <a:srgbClr val="1F1F1F"/>
                </a:solidFill>
                <a:latin typeface="Times New Roman" panose="02020603050405020304" pitchFamily="18" charset="0"/>
                <a:cs typeface="Times New Roman" panose="02020603050405020304" pitchFamily="18" charset="0"/>
              </a:rPr>
              <a:t>Performance Metrics with SMOTE and Class Weights: </a:t>
            </a:r>
            <a:endParaRPr lang="en-IN" sz="1100" b="1" dirty="0" smtClean="0">
              <a:solidFill>
                <a:srgbClr val="1F1F1F"/>
              </a:solidFill>
              <a:latin typeface="Times New Roman" panose="02020603050405020304" pitchFamily="18" charset="0"/>
              <a:cs typeface="Times New Roman" panose="02020603050405020304" pitchFamily="18" charset="0"/>
            </a:endParaRPr>
          </a:p>
          <a:p>
            <a:endParaRPr lang="en-IN" sz="1100" dirty="0">
              <a:solidFill>
                <a:srgbClr val="1F1F1F"/>
              </a:solidFill>
              <a:latin typeface="Times New Roman" panose="02020603050405020304" pitchFamily="18" charset="0"/>
              <a:cs typeface="Times New Roman" panose="02020603050405020304" pitchFamily="18" charset="0"/>
            </a:endParaRPr>
          </a:p>
          <a:p>
            <a:r>
              <a:rPr lang="en-IN" sz="1100" dirty="0" smtClean="0">
                <a:solidFill>
                  <a:srgbClr val="1F1F1F"/>
                </a:solidFill>
                <a:latin typeface="Times New Roman" panose="02020603050405020304" pitchFamily="18" charset="0"/>
                <a:cs typeface="Times New Roman" panose="02020603050405020304" pitchFamily="18" charset="0"/>
              </a:rPr>
              <a:t>Naive </a:t>
            </a:r>
            <a:r>
              <a:rPr lang="en-IN" sz="1100" dirty="0">
                <a:solidFill>
                  <a:srgbClr val="1F1F1F"/>
                </a:solidFill>
                <a:latin typeface="Times New Roman" panose="02020603050405020304" pitchFamily="18" charset="0"/>
                <a:cs typeface="Times New Roman" panose="02020603050405020304" pitchFamily="18" charset="0"/>
              </a:rPr>
              <a:t>Bayes: Accuracy: 0.7293 Precision: 0.7359 Recall: 0.7293 F1-score: 0.7307 ROC AUC: 0.8993 </a:t>
            </a:r>
            <a:endParaRPr lang="en-IN" sz="1100" dirty="0" smtClean="0">
              <a:solidFill>
                <a:srgbClr val="1F1F1F"/>
              </a:solidFill>
              <a:latin typeface="Times New Roman" panose="02020603050405020304" pitchFamily="18" charset="0"/>
              <a:cs typeface="Times New Roman" panose="02020603050405020304" pitchFamily="18" charset="0"/>
            </a:endParaRPr>
          </a:p>
          <a:p>
            <a:r>
              <a:rPr lang="en-IN" sz="1100" dirty="0" smtClean="0">
                <a:solidFill>
                  <a:srgbClr val="1F1F1F"/>
                </a:solidFill>
                <a:latin typeface="Times New Roman" panose="02020603050405020304" pitchFamily="18" charset="0"/>
                <a:cs typeface="Times New Roman" panose="02020603050405020304" pitchFamily="18" charset="0"/>
              </a:rPr>
              <a:t>SVM</a:t>
            </a:r>
            <a:r>
              <a:rPr lang="en-IN" sz="1100" dirty="0">
                <a:solidFill>
                  <a:srgbClr val="1F1F1F"/>
                </a:solidFill>
                <a:latin typeface="Times New Roman" panose="02020603050405020304" pitchFamily="18" charset="0"/>
                <a:cs typeface="Times New Roman" panose="02020603050405020304" pitchFamily="18" charset="0"/>
              </a:rPr>
              <a:t>: Accuracy: 0.9689 Precision: 0.9698 Recall: 0.9689 F1-score: 0.9688 ROC AUC: 0.9987 </a:t>
            </a:r>
            <a:endParaRPr lang="en-IN" sz="1100" dirty="0" smtClean="0">
              <a:solidFill>
                <a:srgbClr val="1F1F1F"/>
              </a:solidFill>
              <a:latin typeface="Times New Roman" panose="02020603050405020304" pitchFamily="18" charset="0"/>
              <a:cs typeface="Times New Roman" panose="02020603050405020304" pitchFamily="18" charset="0"/>
            </a:endParaRPr>
          </a:p>
          <a:p>
            <a:r>
              <a:rPr lang="en-IN" sz="1100" dirty="0" smtClean="0">
                <a:solidFill>
                  <a:srgbClr val="1F1F1F"/>
                </a:solidFill>
                <a:latin typeface="Times New Roman" panose="02020603050405020304" pitchFamily="18" charset="0"/>
                <a:cs typeface="Times New Roman" panose="02020603050405020304" pitchFamily="18" charset="0"/>
              </a:rPr>
              <a:t>Random </a:t>
            </a:r>
            <a:r>
              <a:rPr lang="en-IN" sz="1100" dirty="0">
                <a:solidFill>
                  <a:srgbClr val="1F1F1F"/>
                </a:solidFill>
                <a:latin typeface="Times New Roman" panose="02020603050405020304" pitchFamily="18" charset="0"/>
                <a:cs typeface="Times New Roman" panose="02020603050405020304" pitchFamily="18" charset="0"/>
              </a:rPr>
              <a:t>Forest: Accuracy: 0.9720 Precision: 0.9722 Recall: 0.9720 F1-score: 0.9720 ROC AUC: 0.9984 </a:t>
            </a:r>
            <a:endParaRPr lang="en-IN" sz="1100" dirty="0" smtClean="0">
              <a:solidFill>
                <a:srgbClr val="1F1F1F"/>
              </a:solidFill>
              <a:latin typeface="Times New Roman" panose="02020603050405020304" pitchFamily="18" charset="0"/>
              <a:cs typeface="Times New Roman" panose="02020603050405020304" pitchFamily="18" charset="0"/>
            </a:endParaRPr>
          </a:p>
          <a:p>
            <a:r>
              <a:rPr lang="en-IN" sz="1100" dirty="0" err="1" smtClean="0">
                <a:solidFill>
                  <a:srgbClr val="1F1F1F"/>
                </a:solidFill>
                <a:latin typeface="Times New Roman" panose="02020603050405020304" pitchFamily="18" charset="0"/>
                <a:cs typeface="Times New Roman" panose="02020603050405020304" pitchFamily="18" charset="0"/>
              </a:rPr>
              <a:t>XGBoost</a:t>
            </a:r>
            <a:r>
              <a:rPr lang="en-IN" sz="1100" dirty="0">
                <a:solidFill>
                  <a:srgbClr val="1F1F1F"/>
                </a:solidFill>
                <a:latin typeface="Times New Roman" panose="02020603050405020304" pitchFamily="18" charset="0"/>
                <a:cs typeface="Times New Roman" panose="02020603050405020304" pitchFamily="18" charset="0"/>
              </a:rPr>
              <a:t>: Accuracy: 0.9840 Precision: 0.9841 Recall: 0.9840 F1-score: 0.9840 ROC AUC: 0.9982</a:t>
            </a:r>
            <a:endParaRPr lang="en-IN" sz="11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768813" y="272374"/>
            <a:ext cx="7227651"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342900" indent="-342900">
              <a:buFont typeface="Wingdings" panose="05000000000000000000" pitchFamily="2" charset="2"/>
              <a:buChar char="v"/>
            </a:pPr>
            <a:endParaRPr lang="en-US" b="1" dirty="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Comparison </a:t>
            </a:r>
            <a:r>
              <a:rPr lang="en-US" b="1" dirty="0">
                <a:latin typeface="Times New Roman" panose="02020603050405020304" pitchFamily="18" charset="0"/>
                <a:cs typeface="Times New Roman" panose="02020603050405020304" pitchFamily="18" charset="0"/>
              </a:rPr>
              <a:t>of Performance and </a:t>
            </a:r>
            <a:r>
              <a:rPr lang="en-US" b="1" dirty="0" smtClean="0">
                <a:latin typeface="Times New Roman" panose="02020603050405020304" pitchFamily="18" charset="0"/>
                <a:cs typeface="Times New Roman" panose="02020603050405020304" pitchFamily="18" charset="0"/>
              </a:rPr>
              <a:t>Optimization-Part-2</a:t>
            </a:r>
            <a:endParaRPr lang="en-US" b="1" dirty="0">
              <a:latin typeface="Times New Roman" panose="02020603050405020304" pitchFamily="18" charset="0"/>
              <a:cs typeface="Times New Roman" panose="02020603050405020304" pitchFamily="18" charset="0"/>
            </a:endParaRPr>
          </a:p>
          <a:p>
            <a:endParaRPr lang="en-IN" b="1" dirty="0"/>
          </a:p>
        </p:txBody>
      </p:sp>
      <p:sp>
        <p:nvSpPr>
          <p:cNvPr id="7" name="TextBox 6"/>
          <p:cNvSpPr txBox="1"/>
          <p:nvPr/>
        </p:nvSpPr>
        <p:spPr>
          <a:xfrm>
            <a:off x="9737387" y="457040"/>
            <a:ext cx="1977957"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hlinkClick r:id="rId2" action="ppaction://hlinksldjump"/>
              </a:rPr>
              <a:t>Master Side Link</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53047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0268" y="0"/>
            <a:ext cx="2391383" cy="666007"/>
          </a:xfrm>
        </p:spPr>
        <p:style>
          <a:lnRef idx="2">
            <a:schemeClr val="accent1"/>
          </a:lnRef>
          <a:fillRef idx="1">
            <a:schemeClr val="lt1"/>
          </a:fillRef>
          <a:effectRef idx="0">
            <a:schemeClr val="accent1"/>
          </a:effectRef>
          <a:fontRef idx="minor">
            <a:schemeClr val="dk1"/>
          </a:fontRef>
        </p:style>
        <p:txBody>
          <a:bodyPr>
            <a:normAutofit/>
          </a:bodyPr>
          <a:lstStyle/>
          <a:p>
            <a:r>
              <a:rPr lang="en-US" sz="2000" b="1" dirty="0">
                <a:latin typeface="Times New Roman" panose="02020603050405020304" pitchFamily="18" charset="0"/>
                <a:cs typeface="Times New Roman" panose="02020603050405020304" pitchFamily="18" charset="0"/>
              </a:rPr>
              <a:t>Topic </a:t>
            </a:r>
            <a:r>
              <a:rPr lang="en-US" sz="2000" b="1" dirty="0" smtClean="0">
                <a:latin typeface="Times New Roman" panose="02020603050405020304" pitchFamily="18" charset="0"/>
                <a:cs typeface="Times New Roman" panose="02020603050405020304" pitchFamily="18" charset="0"/>
              </a:rPr>
              <a:t>Modelling</a:t>
            </a:r>
            <a:endParaRPr lang="en-IN" sz="2000" b="1" dirty="0"/>
          </a:p>
        </p:txBody>
      </p:sp>
      <p:sp>
        <p:nvSpPr>
          <p:cNvPr id="3" name="TextBox 2"/>
          <p:cNvSpPr txBox="1"/>
          <p:nvPr/>
        </p:nvSpPr>
        <p:spPr>
          <a:xfrm>
            <a:off x="136187" y="695190"/>
            <a:ext cx="5223753" cy="140038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850" b="1" dirty="0">
                <a:latin typeface="Times New Roman" panose="02020603050405020304" pitchFamily="18" charset="0"/>
                <a:cs typeface="Times New Roman" panose="02020603050405020304" pitchFamily="18" charset="0"/>
              </a:rPr>
              <a:t>1. Latent </a:t>
            </a:r>
            <a:r>
              <a:rPr lang="en-US" sz="850" b="1" dirty="0" err="1">
                <a:latin typeface="Times New Roman" panose="02020603050405020304" pitchFamily="18" charset="0"/>
                <a:cs typeface="Times New Roman" panose="02020603050405020304" pitchFamily="18" charset="0"/>
              </a:rPr>
              <a:t>Dirichlet</a:t>
            </a:r>
            <a:r>
              <a:rPr lang="en-US" sz="850" b="1" dirty="0">
                <a:latin typeface="Times New Roman" panose="02020603050405020304" pitchFamily="18" charset="0"/>
                <a:cs typeface="Times New Roman" panose="02020603050405020304" pitchFamily="18" charset="0"/>
              </a:rPr>
              <a:t> Allocation (LDA)</a:t>
            </a:r>
            <a:endParaRPr lang="en-US" sz="850" dirty="0">
              <a:latin typeface="Times New Roman" panose="02020603050405020304" pitchFamily="18" charset="0"/>
              <a:cs typeface="Times New Roman" panose="02020603050405020304" pitchFamily="18" charset="0"/>
            </a:endParaRPr>
          </a:p>
          <a:p>
            <a:r>
              <a:rPr lang="en-US" sz="850" b="1" dirty="0">
                <a:latin typeface="Times New Roman" panose="02020603050405020304" pitchFamily="18" charset="0"/>
                <a:cs typeface="Times New Roman" panose="02020603050405020304" pitchFamily="18" charset="0"/>
              </a:rPr>
              <a:t>Approach:</a:t>
            </a:r>
            <a:r>
              <a:rPr lang="en-US" sz="850" dirty="0">
                <a:latin typeface="Times New Roman" panose="02020603050405020304" pitchFamily="18" charset="0"/>
                <a:cs typeface="Times New Roman" panose="02020603050405020304" pitchFamily="18" charset="0"/>
              </a:rPr>
              <a:t> LDA is a probabilistic model based on Bayesian inference. It assumes that each document is a mixture of topics, and each topic is a distribution of words.</a:t>
            </a:r>
          </a:p>
          <a:p>
            <a:r>
              <a:rPr lang="en-US" sz="850" b="1" dirty="0">
                <a:latin typeface="Times New Roman" panose="02020603050405020304" pitchFamily="18" charset="0"/>
                <a:cs typeface="Times New Roman" panose="02020603050405020304" pitchFamily="18" charset="0"/>
              </a:rPr>
              <a:t>How it works:</a:t>
            </a:r>
            <a:r>
              <a:rPr lang="en-US" sz="850" dirty="0">
                <a:latin typeface="Times New Roman" panose="02020603050405020304" pitchFamily="18" charset="0"/>
                <a:cs typeface="Times New Roman" panose="02020603050405020304" pitchFamily="18" charset="0"/>
              </a:rPr>
              <a:t> LDA aims to find the probability distributions of topics and words that best explain the observed documents. It uses a process called Gibbs sampling to iteratively update these distributions until convergence.</a:t>
            </a:r>
          </a:p>
          <a:p>
            <a:r>
              <a:rPr lang="en-US" sz="850" b="1" dirty="0">
                <a:latin typeface="Times New Roman" panose="02020603050405020304" pitchFamily="18" charset="0"/>
                <a:cs typeface="Times New Roman" panose="02020603050405020304" pitchFamily="18" charset="0"/>
              </a:rPr>
              <a:t>Sparsity:</a:t>
            </a:r>
            <a:r>
              <a:rPr lang="en-US" sz="850" dirty="0">
                <a:latin typeface="Times New Roman" panose="02020603050405020304" pitchFamily="18" charset="0"/>
                <a:cs typeface="Times New Roman" panose="02020603050405020304" pitchFamily="18" charset="0"/>
              </a:rPr>
              <a:t> LDA generates sparse topic distributions, meaning that each document is typically assigned to a small number of dominant topics. This helps in interpreting the topics more easily.</a:t>
            </a:r>
          </a:p>
          <a:p>
            <a:r>
              <a:rPr lang="en-US" sz="850" b="1" dirty="0">
                <a:latin typeface="Times New Roman" panose="02020603050405020304" pitchFamily="18" charset="0"/>
                <a:cs typeface="Times New Roman" panose="02020603050405020304" pitchFamily="18" charset="0"/>
              </a:rPr>
              <a:t>Application:</a:t>
            </a:r>
            <a:r>
              <a:rPr lang="en-US" sz="850" dirty="0">
                <a:latin typeface="Times New Roman" panose="02020603050405020304" pitchFamily="18" charset="0"/>
                <a:cs typeface="Times New Roman" panose="02020603050405020304" pitchFamily="18" charset="0"/>
              </a:rPr>
              <a:t> LDA is commonly used in text analysis, including document classification, information retrieval, and topic extraction from news articles, social media posts, and research papers.</a:t>
            </a:r>
          </a:p>
          <a:p>
            <a:endParaRPr lang="en-IN" sz="85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284068" y="709444"/>
            <a:ext cx="5729591" cy="126957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850" b="1" dirty="0">
                <a:latin typeface="Times New Roman" panose="02020603050405020304" pitchFamily="18" charset="0"/>
                <a:cs typeface="Times New Roman" panose="02020603050405020304" pitchFamily="18" charset="0"/>
              </a:rPr>
              <a:t>2. Non-negative Matrix Factorization (NMF)</a:t>
            </a:r>
            <a:endParaRPr lang="en-US" sz="850" dirty="0">
              <a:latin typeface="Times New Roman" panose="02020603050405020304" pitchFamily="18" charset="0"/>
              <a:cs typeface="Times New Roman" panose="02020603050405020304" pitchFamily="18" charset="0"/>
            </a:endParaRPr>
          </a:p>
          <a:p>
            <a:r>
              <a:rPr lang="en-US" sz="850" b="1" dirty="0">
                <a:latin typeface="Times New Roman" panose="02020603050405020304" pitchFamily="18" charset="0"/>
                <a:cs typeface="Times New Roman" panose="02020603050405020304" pitchFamily="18" charset="0"/>
              </a:rPr>
              <a:t>Approach:</a:t>
            </a:r>
            <a:r>
              <a:rPr lang="en-US" sz="850" dirty="0">
                <a:latin typeface="Times New Roman" panose="02020603050405020304" pitchFamily="18" charset="0"/>
                <a:cs typeface="Times New Roman" panose="02020603050405020304" pitchFamily="18" charset="0"/>
              </a:rPr>
              <a:t> NMF is a linear algebraic decomposition technique. It decomposes the document-term matrix into two non-negative matrices: one representing topics and the other representing the document-topic assignments.</a:t>
            </a:r>
          </a:p>
          <a:p>
            <a:r>
              <a:rPr lang="en-US" sz="850" b="1" dirty="0">
                <a:latin typeface="Times New Roman" panose="02020603050405020304" pitchFamily="18" charset="0"/>
                <a:cs typeface="Times New Roman" panose="02020603050405020304" pitchFamily="18" charset="0"/>
              </a:rPr>
              <a:t>How it works:</a:t>
            </a:r>
            <a:r>
              <a:rPr lang="en-US" sz="850" dirty="0">
                <a:latin typeface="Times New Roman" panose="02020603050405020304" pitchFamily="18" charset="0"/>
                <a:cs typeface="Times New Roman" panose="02020603050405020304" pitchFamily="18" charset="0"/>
              </a:rPr>
              <a:t> NMF iteratively updates the topic and document-topic matrices to minimize the difference between the original document-term matrix and its reconstruction. This is done under the constraint that all values in the matrices are non-negative.</a:t>
            </a:r>
          </a:p>
          <a:p>
            <a:r>
              <a:rPr lang="en-US" sz="850" b="1" dirty="0">
                <a:latin typeface="Times New Roman" panose="02020603050405020304" pitchFamily="18" charset="0"/>
                <a:cs typeface="Times New Roman" panose="02020603050405020304" pitchFamily="18" charset="0"/>
              </a:rPr>
              <a:t>Sparsity:</a:t>
            </a:r>
            <a:r>
              <a:rPr lang="en-US" sz="850" dirty="0">
                <a:latin typeface="Times New Roman" panose="02020603050405020304" pitchFamily="18" charset="0"/>
                <a:cs typeface="Times New Roman" panose="02020603050405020304" pitchFamily="18" charset="0"/>
              </a:rPr>
              <a:t> NMF enforces sparsity on both the topics and the terms within them. This makes the resulting topics more interpretable and focused.</a:t>
            </a:r>
          </a:p>
          <a:p>
            <a:r>
              <a:rPr lang="en-US" sz="850" b="1" dirty="0">
                <a:latin typeface="Times New Roman" panose="02020603050405020304" pitchFamily="18" charset="0"/>
                <a:cs typeface="Times New Roman" panose="02020603050405020304" pitchFamily="18" charset="0"/>
              </a:rPr>
              <a:t>Application:</a:t>
            </a:r>
            <a:r>
              <a:rPr lang="en-US" sz="850" dirty="0">
                <a:latin typeface="Times New Roman" panose="02020603050405020304" pitchFamily="18" charset="0"/>
                <a:cs typeface="Times New Roman" panose="02020603050405020304" pitchFamily="18" charset="0"/>
              </a:rPr>
              <a:t> NMF is widely used in image and audio processing, but it can also be applied to text analysis for topic modeling.</a:t>
            </a:r>
          </a:p>
          <a:p>
            <a:endParaRPr lang="en-IN" sz="85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11868" y="2274689"/>
            <a:ext cx="4319081" cy="3142736"/>
          </a:xfrm>
          <a:prstGeom prst="rect">
            <a:avLst/>
          </a:prstGeom>
          <a:ln>
            <a:noFill/>
          </a:ln>
          <a:effectLst>
            <a:outerShdw blurRad="292100" dist="139700" dir="2700000" algn="tl" rotWithShape="0">
              <a:srgbClr val="333333">
                <a:alpha val="65000"/>
              </a:srgbClr>
            </a:outerShdw>
          </a:effectLst>
        </p:spPr>
      </p:pic>
      <p:pic>
        <p:nvPicPr>
          <p:cNvPr id="6" name="Picture 5"/>
          <p:cNvPicPr>
            <a:picLocks noChangeAspect="1"/>
          </p:cNvPicPr>
          <p:nvPr/>
        </p:nvPicPr>
        <p:blipFill>
          <a:blip r:embed="rId3"/>
          <a:stretch>
            <a:fillRect/>
          </a:stretch>
        </p:blipFill>
        <p:spPr>
          <a:xfrm>
            <a:off x="5963055" y="2258859"/>
            <a:ext cx="4190190" cy="31427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p:cNvSpPr txBox="1"/>
          <p:nvPr/>
        </p:nvSpPr>
        <p:spPr>
          <a:xfrm>
            <a:off x="136187" y="5661498"/>
            <a:ext cx="11313268"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050" b="1" dirty="0" smtClean="0">
                <a:latin typeface="Times New Roman" panose="02020603050405020304" pitchFamily="18" charset="0"/>
                <a:cs typeface="Times New Roman" panose="02020603050405020304" pitchFamily="18" charset="0"/>
              </a:rPr>
              <a:t>Interpretation:</a:t>
            </a:r>
          </a:p>
          <a:p>
            <a:pPr marL="171450" indent="-171450">
              <a:buFont typeface="Wingdings" panose="05000000000000000000" pitchFamily="2" charset="2"/>
              <a:buChar char="v"/>
            </a:pPr>
            <a:endParaRPr lang="en-US" sz="1050" b="1"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050" dirty="0">
                <a:latin typeface="Times New Roman" panose="02020603050405020304" pitchFamily="18" charset="0"/>
                <a:cs typeface="Times New Roman" panose="02020603050405020304" pitchFamily="18" charset="0"/>
              </a:rPr>
              <a:t>LDA tends to find topics with a more semantic meaning and can assign a document to multiple topics.</a:t>
            </a:r>
          </a:p>
          <a:p>
            <a:pPr marL="285750" indent="-285750">
              <a:buFont typeface="Wingdings" panose="05000000000000000000" pitchFamily="2" charset="2"/>
              <a:buChar char="v"/>
            </a:pPr>
            <a:r>
              <a:rPr lang="en-US" sz="1050" dirty="0">
                <a:latin typeface="Times New Roman" panose="02020603050405020304" pitchFamily="18" charset="0"/>
                <a:cs typeface="Times New Roman" panose="02020603050405020304" pitchFamily="18" charset="0"/>
              </a:rPr>
              <a:t>NMF tends to focus on co-occurring words and often results in more easily interpretable topics, often associated with specific product features or functionalities.</a:t>
            </a:r>
          </a:p>
        </p:txBody>
      </p:sp>
      <p:sp>
        <p:nvSpPr>
          <p:cNvPr id="8" name="TextBox 7"/>
          <p:cNvSpPr txBox="1"/>
          <p:nvPr/>
        </p:nvSpPr>
        <p:spPr>
          <a:xfrm>
            <a:off x="4474723" y="2368289"/>
            <a:ext cx="1303508" cy="29238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800" b="1" dirty="0" smtClean="0">
                <a:latin typeface="Times New Roman" panose="02020603050405020304" pitchFamily="18" charset="0"/>
                <a:cs typeface="Times New Roman" panose="02020603050405020304" pitchFamily="18" charset="0"/>
              </a:rPr>
              <a:t>Interpretation LDA:</a:t>
            </a:r>
          </a:p>
          <a:p>
            <a:r>
              <a:rPr lang="en-US" sz="800" dirty="0" smtClean="0">
                <a:latin typeface="Times New Roman" panose="02020603050405020304" pitchFamily="18" charset="0"/>
                <a:cs typeface="Times New Roman" panose="02020603050405020304" pitchFamily="18" charset="0"/>
              </a:rPr>
              <a:t>These </a:t>
            </a:r>
            <a:r>
              <a:rPr lang="en-US" sz="800" dirty="0">
                <a:latin typeface="Times New Roman" panose="02020603050405020304" pitchFamily="18" charset="0"/>
                <a:cs typeface="Times New Roman" panose="02020603050405020304" pitchFamily="18" charset="0"/>
              </a:rPr>
              <a:t>LDA topics identify different aspects of customer reviews:</a:t>
            </a:r>
          </a:p>
          <a:p>
            <a:r>
              <a:rPr lang="en-US" sz="800" b="1" dirty="0">
                <a:latin typeface="Times New Roman" panose="02020603050405020304" pitchFamily="18" charset="0"/>
                <a:cs typeface="Times New Roman" panose="02020603050405020304" pitchFamily="18" charset="0"/>
              </a:rPr>
              <a:t>Topic #0:</a:t>
            </a:r>
            <a:r>
              <a:rPr lang="en-US" sz="800" dirty="0">
                <a:latin typeface="Times New Roman" panose="02020603050405020304" pitchFamily="18" charset="0"/>
                <a:cs typeface="Times New Roman" panose="02020603050405020304" pitchFamily="18" charset="0"/>
              </a:rPr>
              <a:t> Focuses on Kindle devices, their purpose, and potential user groups.</a:t>
            </a:r>
          </a:p>
          <a:p>
            <a:r>
              <a:rPr lang="en-US" sz="800" b="1" dirty="0">
                <a:latin typeface="Times New Roman" panose="02020603050405020304" pitchFamily="18" charset="0"/>
                <a:cs typeface="Times New Roman" panose="02020603050405020304" pitchFamily="18" charset="0"/>
              </a:rPr>
              <a:t>Topic #1:</a:t>
            </a:r>
            <a:r>
              <a:rPr lang="en-US" sz="800" dirty="0">
                <a:latin typeface="Times New Roman" panose="02020603050405020304" pitchFamily="18" charset="0"/>
                <a:cs typeface="Times New Roman" panose="02020603050405020304" pitchFamily="18" charset="0"/>
              </a:rPr>
              <a:t> Relates to Amazon Echo devices and positive feedback about them.</a:t>
            </a:r>
          </a:p>
          <a:p>
            <a:r>
              <a:rPr lang="en-US" sz="800" b="1" dirty="0">
                <a:latin typeface="Times New Roman" panose="02020603050405020304" pitchFamily="18" charset="0"/>
                <a:cs typeface="Times New Roman" panose="02020603050405020304" pitchFamily="18" charset="0"/>
              </a:rPr>
              <a:t>Topic #2:</a:t>
            </a:r>
            <a:r>
              <a:rPr lang="en-US" sz="800" dirty="0">
                <a:latin typeface="Times New Roman" panose="02020603050405020304" pitchFamily="18" charset="0"/>
                <a:cs typeface="Times New Roman" panose="02020603050405020304" pitchFamily="18" charset="0"/>
              </a:rPr>
              <a:t> Reflects general positive experiences, possibly related to ease of use and product satisfaction.</a:t>
            </a:r>
          </a:p>
          <a:p>
            <a:r>
              <a:rPr lang="en-US" sz="800" b="1" dirty="0">
                <a:latin typeface="Times New Roman" panose="02020603050405020304" pitchFamily="18" charset="0"/>
                <a:cs typeface="Times New Roman" panose="02020603050405020304" pitchFamily="18" charset="0"/>
              </a:rPr>
              <a:t>Topic #3:</a:t>
            </a:r>
            <a:r>
              <a:rPr lang="en-US" sz="800" dirty="0">
                <a:latin typeface="Times New Roman" panose="02020603050405020304" pitchFamily="18" charset="0"/>
                <a:cs typeface="Times New Roman" panose="02020603050405020304" pitchFamily="18" charset="0"/>
              </a:rPr>
              <a:t> Captures negative experiences, particularly related to limited functionality and battery issues.</a:t>
            </a:r>
          </a:p>
          <a:p>
            <a:endParaRPr lang="en-IN" sz="8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0338070" y="2041514"/>
            <a:ext cx="1675589" cy="34163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800" b="1" dirty="0" smtClean="0">
                <a:latin typeface="Times New Roman" panose="02020603050405020304" pitchFamily="18" charset="0"/>
                <a:cs typeface="Times New Roman" panose="02020603050405020304" pitchFamily="18" charset="0"/>
              </a:rPr>
              <a:t>Interpretation NMF</a:t>
            </a:r>
          </a:p>
          <a:p>
            <a:pPr marL="171450" indent="-171450">
              <a:buFont typeface="Wingdings" panose="05000000000000000000" pitchFamily="2" charset="2"/>
              <a:buChar char="v"/>
            </a:pPr>
            <a:r>
              <a:rPr lang="en-US" sz="800" b="1" dirty="0" smtClean="0">
                <a:latin typeface="Times New Roman" panose="02020603050405020304" pitchFamily="18" charset="0"/>
                <a:cs typeface="Times New Roman" panose="02020603050405020304" pitchFamily="18" charset="0"/>
              </a:rPr>
              <a:t> </a:t>
            </a:r>
            <a:r>
              <a:rPr lang="en-IN" sz="800" b="1" dirty="0">
                <a:latin typeface="Times New Roman" panose="02020603050405020304" pitchFamily="18" charset="0"/>
                <a:cs typeface="Times New Roman" panose="02020603050405020304" pitchFamily="18" charset="0"/>
              </a:rPr>
              <a:t>NMF Topic #1: ['bought', 'his', 'year', 'son', 'grandson', 'my', 'old', 'it', 'loves', 'he'], </a:t>
            </a:r>
            <a:r>
              <a:rPr lang="en-US" sz="800" dirty="0">
                <a:latin typeface="Times New Roman" panose="02020603050405020304" pitchFamily="18" charset="0"/>
                <a:cs typeface="Times New Roman" panose="02020603050405020304" pitchFamily="18" charset="0"/>
              </a:rPr>
              <a:t>This topic seems to revolve around gifts for male family members, particularly sons and grandsons. The words "bought," "his," "son," and "grandson" suggest a purchase made for a male relative. The inclusion of "loves" indicates positive sentiment, implying the gift was well-received.</a:t>
            </a:r>
            <a:endParaRPr lang="en-US" sz="800" b="1"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800" b="1"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r>
              <a:rPr lang="en-US" sz="800" b="1" dirty="0">
                <a:latin typeface="Times New Roman" panose="02020603050405020304" pitchFamily="18" charset="0"/>
                <a:cs typeface="Times New Roman" panose="02020603050405020304" pitchFamily="18" charset="0"/>
              </a:rPr>
              <a:t> </a:t>
            </a:r>
            <a:r>
              <a:rPr lang="en-US" sz="800" dirty="0">
                <a:latin typeface="Times New Roman" panose="02020603050405020304" pitchFamily="18" charset="0"/>
                <a:cs typeface="Times New Roman" panose="02020603050405020304" pitchFamily="18" charset="0"/>
              </a:rPr>
              <a:t>These NMF topics seem to capture different aspects of customer reviews, including product categories (Echo, Kindle), gift-giving, product performance, ease of use, and overall satisfaction. The topics provide insights into customer preferences and opinions, which can be valuable for product development, marketing, and customer service.</a:t>
            </a:r>
            <a:endParaRPr lang="en-IN" sz="800" dirty="0"/>
          </a:p>
        </p:txBody>
      </p:sp>
      <p:sp>
        <p:nvSpPr>
          <p:cNvPr id="10" name="TextBox 9"/>
          <p:cNvSpPr txBox="1"/>
          <p:nvPr/>
        </p:nvSpPr>
        <p:spPr>
          <a:xfrm>
            <a:off x="6429983" y="247779"/>
            <a:ext cx="1977957"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hlinkClick r:id="rId4" action="ppaction://hlinksldjump"/>
              </a:rPr>
              <a:t>Master Side Link</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79759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98451" y="321013"/>
            <a:ext cx="1731523" cy="4001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b="1" dirty="0" smtClean="0">
                <a:latin typeface="Times New Roman" panose="02020603050405020304" pitchFamily="18" charset="0"/>
                <a:cs typeface="Times New Roman" panose="02020603050405020304" pitchFamily="18" charset="0"/>
              </a:rPr>
              <a:t>Conclusion</a:t>
            </a:r>
            <a:endParaRPr lang="en-IN" sz="20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7110918" y="244069"/>
            <a:ext cx="1977957"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hlinkClick r:id="rId2" action="ppaction://hlinksldjump"/>
              </a:rPr>
              <a:t>Master Side Link</a:t>
            </a:r>
            <a:endParaRPr lang="en-IN" sz="1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04281" y="841521"/>
            <a:ext cx="5953328" cy="58169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200" b="1" dirty="0">
                <a:latin typeface="Times New Roman" panose="02020603050405020304" pitchFamily="18" charset="0"/>
                <a:cs typeface="Times New Roman" panose="02020603050405020304" pitchFamily="18" charset="0"/>
              </a:rPr>
              <a:t>Key Findings and Implications:</a:t>
            </a:r>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Class Imbalance Mitigation:</a:t>
            </a:r>
            <a:r>
              <a:rPr lang="en-US" sz="1200" dirty="0">
                <a:latin typeface="Times New Roman" panose="02020603050405020304" pitchFamily="18" charset="0"/>
                <a:cs typeface="Times New Roman" panose="02020603050405020304" pitchFamily="18" charset="0"/>
              </a:rPr>
              <a:t> Initial model performance was hampered by class imbalance, hindering accurate prediction of minority sentiments. Implementing SMOTE significantly improved recall and F1-scores for these crucial categories, enabling more comprehensive understanding of customer feedback. This has direct implications for product development, marketing, and customer service strategies.</a:t>
            </a:r>
          </a:p>
          <a:p>
            <a:r>
              <a:rPr lang="en-US" sz="1200" b="1" dirty="0" err="1">
                <a:latin typeface="Times New Roman" panose="02020603050405020304" pitchFamily="18" charset="0"/>
                <a:cs typeface="Times New Roman" panose="02020603050405020304" pitchFamily="18" charset="0"/>
              </a:rPr>
              <a:t>Hyperparameter</a:t>
            </a:r>
            <a:r>
              <a:rPr lang="en-US" sz="1200" b="1" dirty="0">
                <a:latin typeface="Times New Roman" panose="02020603050405020304" pitchFamily="18" charset="0"/>
                <a:cs typeface="Times New Roman" panose="02020603050405020304" pitchFamily="18" charset="0"/>
              </a:rPr>
              <a:t> Optimization:</a:t>
            </a:r>
            <a:r>
              <a:rPr lang="en-US" sz="1200" dirty="0">
                <a:latin typeface="Times New Roman" panose="02020603050405020304" pitchFamily="18" charset="0"/>
                <a:cs typeface="Times New Roman" panose="02020603050405020304" pitchFamily="18" charset="0"/>
              </a:rPr>
              <a:t> Fine-tuning model settings through rigorous </a:t>
            </a:r>
            <a:r>
              <a:rPr lang="en-US" sz="1200" dirty="0" err="1">
                <a:latin typeface="Times New Roman" panose="02020603050405020304" pitchFamily="18" charset="0"/>
                <a:cs typeface="Times New Roman" panose="02020603050405020304" pitchFamily="18" charset="0"/>
              </a:rPr>
              <a:t>hyperparameter</a:t>
            </a:r>
            <a:r>
              <a:rPr lang="en-US" sz="1200" dirty="0">
                <a:latin typeface="Times New Roman" panose="02020603050405020304" pitchFamily="18" charset="0"/>
                <a:cs typeface="Times New Roman" panose="02020603050405020304" pitchFamily="18" charset="0"/>
              </a:rPr>
              <a:t> optimization led to further performance gains across all algorithms. This highlights the importance of data-driven model customization to maximize predictive power, ensuring accurate and reliable sentiment insights for business intelligence.</a:t>
            </a:r>
          </a:p>
          <a:p>
            <a:r>
              <a:rPr lang="en-US" sz="1200" b="1" dirty="0">
                <a:latin typeface="Times New Roman" panose="02020603050405020304" pitchFamily="18" charset="0"/>
                <a:cs typeface="Times New Roman" panose="02020603050405020304" pitchFamily="18" charset="0"/>
              </a:rPr>
              <a:t>Comparative Model Analysis:</a:t>
            </a:r>
            <a:r>
              <a:rPr lang="en-US" sz="1200" dirty="0">
                <a:latin typeface="Times New Roman" panose="02020603050405020304" pitchFamily="18" charset="0"/>
                <a:cs typeface="Times New Roman" panose="02020603050405020304" pitchFamily="18" charset="0"/>
              </a:rPr>
              <a:t> A comparative evaluation of different models revealed diverse strengths and weaknesses:</a:t>
            </a:r>
          </a:p>
          <a:p>
            <a:pPr lvl="1"/>
            <a:r>
              <a:rPr lang="en-US" sz="1200" b="1" dirty="0">
                <a:latin typeface="Times New Roman" panose="02020603050405020304" pitchFamily="18" charset="0"/>
                <a:cs typeface="Times New Roman" panose="02020603050405020304" pitchFamily="18" charset="0"/>
              </a:rPr>
              <a:t>Naive Bayes:</a:t>
            </a:r>
            <a:r>
              <a:rPr lang="en-US" sz="1200" dirty="0">
                <a:latin typeface="Times New Roman" panose="02020603050405020304" pitchFamily="18" charset="0"/>
                <a:cs typeface="Times New Roman" panose="02020603050405020304" pitchFamily="18" charset="0"/>
              </a:rPr>
              <a:t> Demonstrated good performance with SMOTE and tuning, offering a computationally efficient solution, particularly for large datasets. However, it may lack robustness compared to more sophisticated algorithms.</a:t>
            </a:r>
          </a:p>
          <a:p>
            <a:pPr lvl="1"/>
            <a:r>
              <a:rPr lang="en-US" sz="1200" b="1" dirty="0">
                <a:latin typeface="Times New Roman" panose="02020603050405020304" pitchFamily="18" charset="0"/>
                <a:cs typeface="Times New Roman" panose="02020603050405020304" pitchFamily="18" charset="0"/>
              </a:rPr>
              <a:t>SVM:</a:t>
            </a:r>
            <a:r>
              <a:rPr lang="en-US" sz="1200" dirty="0">
                <a:latin typeface="Times New Roman" panose="02020603050405020304" pitchFamily="18" charset="0"/>
                <a:cs typeface="Times New Roman" panose="02020603050405020304" pitchFamily="18" charset="0"/>
              </a:rPr>
              <a:t> Showed promising results, especially when addressing class imbalance, making it a viable option for complex datasets. Computational considerations should be taken into account for deployment.</a:t>
            </a:r>
          </a:p>
          <a:p>
            <a:pPr lvl="1"/>
            <a:r>
              <a:rPr lang="en-US" sz="1200" b="1" dirty="0">
                <a:latin typeface="Times New Roman" panose="02020603050405020304" pitchFamily="18" charset="0"/>
                <a:cs typeface="Times New Roman" panose="02020603050405020304" pitchFamily="18" charset="0"/>
              </a:rPr>
              <a:t>Random Forest:</a:t>
            </a:r>
            <a:r>
              <a:rPr lang="en-US" sz="1200" dirty="0">
                <a:latin typeface="Times New Roman" panose="02020603050405020304" pitchFamily="18" charset="0"/>
                <a:cs typeface="Times New Roman" panose="02020603050405020304" pitchFamily="18" charset="0"/>
              </a:rPr>
              <a:t> Exhibited high accuracy and balanced predictions, showcasing robustness and generalization capability, making it a reliable choice for diverse business applications.</a:t>
            </a:r>
          </a:p>
          <a:p>
            <a:pPr lvl="1"/>
            <a:r>
              <a:rPr lang="en-US" sz="1200" b="1" dirty="0" err="1">
                <a:latin typeface="Times New Roman" panose="02020603050405020304" pitchFamily="18" charset="0"/>
                <a:cs typeface="Times New Roman" panose="02020603050405020304" pitchFamily="18" charset="0"/>
              </a:rPr>
              <a:t>XGBoost</a:t>
            </a:r>
            <a:r>
              <a:rPr lang="en-US" sz="1200" b="1" dirty="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 Consistently outperformed other models, achieving superior accuracy and handling complex data relationships effectively. Its ensemble approach offers strong predictive power for critical business decisions.</a:t>
            </a:r>
          </a:p>
          <a:p>
            <a:pPr lvl="1"/>
            <a:r>
              <a:rPr lang="en-US" sz="1200" b="1" dirty="0">
                <a:latin typeface="Times New Roman" panose="02020603050405020304" pitchFamily="18" charset="0"/>
                <a:cs typeface="Times New Roman" panose="02020603050405020304" pitchFamily="18" charset="0"/>
              </a:rPr>
              <a:t>LSTM:</a:t>
            </a:r>
            <a:r>
              <a:rPr lang="en-US" sz="1200" dirty="0">
                <a:latin typeface="Times New Roman" panose="02020603050405020304" pitchFamily="18" charset="0"/>
                <a:cs typeface="Times New Roman" panose="02020603050405020304" pitchFamily="18" charset="0"/>
              </a:rPr>
              <a:t> Showcased potential as a powerful solution, but requires careful tuning and data volume for optimal performance. Its adaptability to complex text features makes it a valuable tool for advanced sentiment analysis tasks.</a:t>
            </a:r>
          </a:p>
          <a:p>
            <a:r>
              <a:rPr lang="en-US" sz="1200" b="1" dirty="0">
                <a:latin typeface="Times New Roman" panose="02020603050405020304" pitchFamily="18" charset="0"/>
                <a:cs typeface="Times New Roman" panose="02020603050405020304" pitchFamily="18" charset="0"/>
              </a:rPr>
              <a:t>Cross-Validation for Robustness:</a:t>
            </a:r>
            <a:r>
              <a:rPr lang="en-US" sz="1200" dirty="0">
                <a:latin typeface="Times New Roman" panose="02020603050405020304" pitchFamily="18" charset="0"/>
                <a:cs typeface="Times New Roman" panose="02020603050405020304" pitchFamily="18" charset="0"/>
              </a:rPr>
              <a:t> Consistent use of cross-validation techniques ensures reliable model evaluation, mitigating overfitting and enhancing generalization capability. This approach fosters confidence in model predictions, translating to more informed business decisions based on robust and reliable sentiment insights.</a:t>
            </a:r>
          </a:p>
        </p:txBody>
      </p:sp>
      <p:sp>
        <p:nvSpPr>
          <p:cNvPr id="7" name="TextBox 6"/>
          <p:cNvSpPr txBox="1"/>
          <p:nvPr/>
        </p:nvSpPr>
        <p:spPr>
          <a:xfrm>
            <a:off x="6157608" y="841521"/>
            <a:ext cx="5223753" cy="470898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200" b="1" dirty="0">
                <a:latin typeface="Times New Roman" panose="02020603050405020304" pitchFamily="18" charset="0"/>
                <a:cs typeface="Times New Roman" panose="02020603050405020304" pitchFamily="18" charset="0"/>
              </a:rPr>
              <a:t>Business Impact and Recommendations:</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This study offers actionable insights for leveraging sentiment analysis to drive business value:</a:t>
            </a:r>
          </a:p>
          <a:p>
            <a:r>
              <a:rPr lang="en-US" sz="1200" b="1" dirty="0">
                <a:latin typeface="Times New Roman" panose="02020603050405020304" pitchFamily="18" charset="0"/>
                <a:cs typeface="Times New Roman" panose="02020603050405020304" pitchFamily="18" charset="0"/>
              </a:rPr>
              <a:t>Proactive Imbalance Mitigation:</a:t>
            </a:r>
            <a:r>
              <a:rPr lang="en-US" sz="1200" dirty="0">
                <a:latin typeface="Times New Roman" panose="02020603050405020304" pitchFamily="18" charset="0"/>
                <a:cs typeface="Times New Roman" panose="02020603050405020304" pitchFamily="18" charset="0"/>
              </a:rPr>
              <a:t> Prioritizing techniques like SMOTE for addressing class imbalance is crucial to gain a holistic view of customer sentiments, enabling informed product and service improvements, targeted marketing campaigns, and enhanced customer support strategies.</a:t>
            </a:r>
          </a:p>
          <a:p>
            <a:r>
              <a:rPr lang="en-US" sz="1200" b="1" dirty="0">
                <a:latin typeface="Times New Roman" panose="02020603050405020304" pitchFamily="18" charset="0"/>
                <a:cs typeface="Times New Roman" panose="02020603050405020304" pitchFamily="18" charset="0"/>
              </a:rPr>
              <a:t>Data-Driven Model Optimization:</a:t>
            </a:r>
            <a:r>
              <a:rPr lang="en-US" sz="1200" dirty="0">
                <a:latin typeface="Times New Roman" panose="02020603050405020304" pitchFamily="18" charset="0"/>
                <a:cs typeface="Times New Roman" panose="02020603050405020304" pitchFamily="18" charset="0"/>
              </a:rPr>
              <a:t> Investing in </a:t>
            </a:r>
            <a:r>
              <a:rPr lang="en-US" sz="1200" dirty="0" err="1">
                <a:latin typeface="Times New Roman" panose="02020603050405020304" pitchFamily="18" charset="0"/>
                <a:cs typeface="Times New Roman" panose="02020603050405020304" pitchFamily="18" charset="0"/>
              </a:rPr>
              <a:t>hyperparameter</a:t>
            </a:r>
            <a:r>
              <a:rPr lang="en-US" sz="1200" dirty="0">
                <a:latin typeface="Times New Roman" panose="02020603050405020304" pitchFamily="18" charset="0"/>
                <a:cs typeface="Times New Roman" panose="02020603050405020304" pitchFamily="18" charset="0"/>
              </a:rPr>
              <a:t> optimization is essential for maximizing the predictive power of sentiment analysis models, leading to more accurate and reliable insights for strategic business decisions.</a:t>
            </a:r>
          </a:p>
          <a:p>
            <a:r>
              <a:rPr lang="en-US" sz="1200" b="1" dirty="0">
                <a:latin typeface="Times New Roman" panose="02020603050405020304" pitchFamily="18" charset="0"/>
                <a:cs typeface="Times New Roman" panose="02020603050405020304" pitchFamily="18" charset="0"/>
              </a:rPr>
              <a:t>Strategic Model Selection:</a:t>
            </a:r>
            <a:r>
              <a:rPr lang="en-US" sz="1200" dirty="0">
                <a:latin typeface="Times New Roman" panose="02020603050405020304" pitchFamily="18" charset="0"/>
                <a:cs typeface="Times New Roman" panose="02020603050405020304" pitchFamily="18" charset="0"/>
              </a:rPr>
              <a:t> Careful model selection based on specific business needs and dataset characteristics is vital. Consider computational costs, desired performance levels, and data complexity when choosing the most suitable algorithm.</a:t>
            </a:r>
          </a:p>
          <a:p>
            <a:r>
              <a:rPr lang="en-US" sz="1200" b="1" dirty="0">
                <a:latin typeface="Times New Roman" panose="02020603050405020304" pitchFamily="18" charset="0"/>
                <a:cs typeface="Times New Roman" panose="02020603050405020304" pitchFamily="18" charset="0"/>
              </a:rPr>
              <a:t>Deep Learning for Advanced Analysis:</a:t>
            </a:r>
            <a:r>
              <a:rPr lang="en-US" sz="1200" dirty="0">
                <a:latin typeface="Times New Roman" panose="02020603050405020304" pitchFamily="18" charset="0"/>
                <a:cs typeface="Times New Roman" panose="02020603050405020304" pitchFamily="18" charset="0"/>
              </a:rPr>
              <a:t> Explore deep learning models like LSTM for complex sentiment analysis tasks, leveraging their ability to capture nuances in text data. Ensure adequate data and resources for optimal performance.</a:t>
            </a:r>
          </a:p>
          <a:p>
            <a:r>
              <a:rPr lang="en-US" sz="1200" b="1" dirty="0">
                <a:latin typeface="Times New Roman" panose="02020603050405020304" pitchFamily="18" charset="0"/>
                <a:cs typeface="Times New Roman" panose="02020603050405020304" pitchFamily="18" charset="0"/>
              </a:rPr>
              <a:t>Robust Evaluation for Informed Decisions:</a:t>
            </a:r>
            <a:r>
              <a:rPr lang="en-US" sz="1200" dirty="0">
                <a:latin typeface="Times New Roman" panose="02020603050405020304" pitchFamily="18" charset="0"/>
                <a:cs typeface="Times New Roman" panose="02020603050405020304" pitchFamily="18" charset="0"/>
              </a:rPr>
              <a:t> Employ rigorous cross-validation to ensure reliable model assessments, fostering confidence in the insights derived from sentiment analysis for data-driven business strategies.</a:t>
            </a:r>
          </a:p>
          <a:p>
            <a:r>
              <a:rPr lang="en-US" sz="1200" dirty="0">
                <a:latin typeface="Times New Roman" panose="02020603050405020304" pitchFamily="18" charset="0"/>
                <a:cs typeface="Times New Roman" panose="02020603050405020304" pitchFamily="18" charset="0"/>
              </a:rPr>
              <a:t>By implementing these findings and recommendations, </a:t>
            </a:r>
            <a:r>
              <a:rPr lang="en-US" sz="1200" dirty="0" smtClean="0">
                <a:latin typeface="Times New Roman" panose="02020603050405020304" pitchFamily="18" charset="0"/>
                <a:cs typeface="Times New Roman" panose="02020603050405020304" pitchFamily="18" charset="0"/>
              </a:rPr>
              <a:t>Amazon </a:t>
            </a:r>
            <a:r>
              <a:rPr lang="en-US" sz="1200" dirty="0">
                <a:latin typeface="Times New Roman" panose="02020603050405020304" pitchFamily="18" charset="0"/>
                <a:cs typeface="Times New Roman" panose="02020603050405020304" pitchFamily="18" charset="0"/>
              </a:rPr>
              <a:t>can effectively harness the power of sentiment analysis to gain a deeper understanding of customer opinions, optimize products and services, improve customer experiences, and drive overall business success.</a:t>
            </a:r>
          </a:p>
          <a:p>
            <a:endParaRPr lang="en-IN" sz="12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444344" y="5895702"/>
            <a:ext cx="2046514" cy="338554"/>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600" b="1" dirty="0" smtClean="0">
                <a:latin typeface="Times New Roman" panose="02020603050405020304" pitchFamily="18" charset="0"/>
                <a:cs typeface="Times New Roman" panose="02020603050405020304" pitchFamily="18" charset="0"/>
              </a:rPr>
              <a:t>THANK YOU</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8989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1266</TotalTime>
  <Words>5179</Words>
  <Application>Microsoft Office PowerPoint</Application>
  <PresentationFormat>Widescreen</PresentationFormat>
  <Paragraphs>367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Times New Roman</vt:lpstr>
      <vt:lpstr>Wingdings</vt:lpstr>
      <vt:lpstr>Office Theme</vt:lpstr>
      <vt:lpstr>Sentiment Analysis-Amazon Product</vt:lpstr>
      <vt:lpstr>PowerPoint Presentation</vt:lpstr>
      <vt:lpstr>PowerPoint Presentation</vt:lpstr>
      <vt:lpstr>PowerPoint Presentation</vt:lpstr>
      <vt:lpstr>Feature Engineering-Null Value Treatment  </vt:lpstr>
      <vt:lpstr>PowerPoint Presentation</vt:lpstr>
      <vt:lpstr>Class Imbalance Address-Multinomial Naïve Bayes Post SMOTHE and Hyper Parameter Tuning</vt:lpstr>
      <vt:lpstr>Ensemble Technique- XGBoost, Multi-Class SVM and Random Forest</vt:lpstr>
      <vt:lpstr>PowerPoint Presentation</vt:lpstr>
      <vt:lpstr>PowerPoint Presentation</vt:lpstr>
      <vt:lpstr>PowerPoint Presentation</vt:lpstr>
      <vt:lpstr>PowerPoint Presentation</vt:lpstr>
      <vt:lpstr>Topic Modelling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143</cp:revision>
  <dcterms:created xsi:type="dcterms:W3CDTF">2025-04-10T05:22:02Z</dcterms:created>
  <dcterms:modified xsi:type="dcterms:W3CDTF">2025-04-14T06:28:25Z</dcterms:modified>
</cp:coreProperties>
</file>